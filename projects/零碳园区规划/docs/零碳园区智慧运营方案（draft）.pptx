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5"/>
    <p:sldId id="267" r:id="rId4"/>
    <p:sldId id="268" r:id="rId3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8000"/>
            <a:ext cx="126000" cy="306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96000"/>
            <a:ext cx="939789" cy="93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000" y="2340000"/>
            <a:ext cx="7380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5CC13C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Inter"/>
                <a:ea typeface="PingFang SC"/>
              </a:rPr>
              <a:t>零碳园区智慧运营方案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3852000"/>
            <a:ext cx="73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199"/>
                </a:solidFill>
                <a:latin typeface="Inter"/>
                <a:ea typeface="PingFang SC"/>
              </a:rPr>
              <a:t>以 ArktechX · Arksus 平台为底座，构建铸造 · 水泥 · 数据中心 · 锂电池园区的全栈低碳管控体系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536000"/>
            <a:ext cx="73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FAF5"/>
                </a:solidFill>
                <a:latin typeface="Inter"/>
                <a:ea typeface="PingFang SC"/>
              </a:rPr>
              <a:t>8 大业务域 · 34 核心模块 · Enterprise AI &amp; EHS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32000"/>
            <a:ext cx="12188952" cy="126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本方案围绕七大板块，展示零碳园区数字化运营的完整路径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40000"/>
            <a:ext cx="10676952" cy="4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01  政策背景与园区压力 — 为什么零碳园区是当务之急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02  传统管理的核心痛点 — 现状差距在哪里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03  平台模块全景 — 8 大业务域 · 34 核心模块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04  场景一 &amp; 二 — 建设期管控 · 日常安全巡检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05  场景三 &amp; 四 — 物联碳感知 · ESG 可持续管理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06  场景五 &amp; 六 — 人员资质合规 · 供应链碳足迹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07  场景七 &amp; 收益 — 协同治理 · 三阶段实施路径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政策背景与园区挑战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高排放园区正面临三重前所未有的合规压力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3060 双碳目标 · 强制 ESG 披露 · 绿色金融准入门槛同步收紧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40000"/>
            <a:ext cx="10676952" cy="4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【政策端】国家 3060 目标明确，工业园区为重点监管对象；主要高排放行业已纳入全国碳市场，碳配额年度清缴压力逐年加大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【市场端】头部企业供应链 ESG 尽调已成标配；苹果、宝马等跨国企业要求供应商提交符合 GRI/TCFD 框架的碳排放数据（Scope 3 核查）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【融资端】绿色信贷、绿色债券将园区碳强度作为关键授信指标；未达绿色认证标准的园区，融资成本显著高于同类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【运营端】安全事故一票否决绿色认证进度——安全合规与低碳运营必须协同管控，不能分拆治理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四类高排放园区：挑战高度相似，数字化起点普遍偏低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铸造厂 · 水泥厂 · 数据中心 · 锂电池工厂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" y="1512000"/>
            <a:ext cx="3438984" cy="10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重工业 · 高危作业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铸造 &amp; 水泥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• 高温、粉尘、有毒气体多重职业危害
• 动火、受限空间等高危作业每日数十张
• 碳排放强度大，核算基础数据极度分散
• 承包商占比高，资质管理依赖纸质台账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984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4984" y="1512000"/>
            <a:ext cx="3438984" cy="10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4984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C13C"/>
                </a:solidFill>
                <a:latin typeface="Inter"/>
                <a:ea typeface="PingFang SC"/>
              </a:rPr>
              <a:t>高能耗 · 高密度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4984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数据中心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4984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• PUE 是核心绿色指标，客户与监管双重关注
• 机房电气火灾、高空作业风险不可忽视
• 7x24h 运维巡检压力大，人员配置紧张
• ESG 报告需向托管客户和监管机构双向披露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3968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3968" y="1512000"/>
            <a:ext cx="3438984" cy="108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3968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E13C"/>
                </a:solidFill>
                <a:latin typeface="Inter"/>
                <a:ea typeface="PingFang SC"/>
              </a:rPr>
              <a:t>新能源 · 强合规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968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锂电池工厂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968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• 热失控、化学品泄漏属极高风险场景
• 下游车企 Scope 3 碳足迹核查严格
• 工艺变更须严格管控，避免质量与安全风险
• 特种作业证书及培训合规要求极高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传统管理的核心痛点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现状诊断：三条断裂带，贯穿安全 · 碳管理 · 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每一条痛点背后，都是真实的合规风险与运营成本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" y="1512000"/>
            <a:ext cx="3438984" cy="10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安全 &amp; 合规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隐患靠纸质，整改无闭环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巡检表单手写、隐患照片靠微信传、整改结果无系统追踪。
高危作业票审批跑断腿，中途异常无法实时通知相关人员中止。
承包商资质造假难察觉，证书过期无预警，
事故发生后责任认定困难。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984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4984" y="1512000"/>
            <a:ext cx="3438984" cy="10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4984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C13C"/>
                </a:solidFill>
                <a:latin typeface="Inter"/>
                <a:ea typeface="PingFang SC"/>
              </a:rPr>
              <a:t>碳管理 &amp; ESG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4984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碳账不透明，供应链无法交代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4984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能耗数据分散在各子系统，碳排放核算依赖月末人工填报，
数据误差大、不可追溯，无法通过第三方碳核查。
ESG 报告编写耗时 3-4 个月；
锂电池工厂无法向车企提供 Scope 3 产品碳足迹报告。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3968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3968" y="1512000"/>
            <a:ext cx="3438984" cy="108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3968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E13C"/>
                </a:solidFill>
                <a:latin typeface="Inter"/>
                <a:ea typeface="PingFang SC"/>
              </a:rPr>
              <a:t>协同 &amp; 效率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968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园区与租户割裂，治理靠微信群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968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园区运营方与企业租户之间没有统一数字化连接，
政策通知、整改督促、ESG 数据收集靠微信群和邮件，
版本混乱、无法留痕。
绩效考核、流程审批分散在多个系统，
无法支撑园区级 ESG 管治体系。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平台模块全景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8 大业务域 · 34 核心模块：从设备感知到 ESG 战略输出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覆盖工作台、安全风险、合规整改、资产知识、环境可持续、质量供应链、系统配置与办公协同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40000"/>
            <a:ext cx="10676952" cy="4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【我的工作台  3模块】  仪表盘与看板 · 个人任务中心 · 智能助理 — 个性化入口，AI降低使用门槛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【安全与风险  8模块】  风险管控 · 隐患排查 · 智能检查 · 作业票 · 承包商 · AI视频 · 物联智能 · 应急物资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【行动与合规  2模块】  整改中心 · 合规与法规 — 跨模块整改闭环 + 法规知识库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【资产与知识  3模块】  人员资质与培训 · 设备合规台账 · 安全知识库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【环境与可持续  2模块】  环境合规 · 可持续与ESG — 零碳园区核心域，碳账 + ESG报告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【质量与产品  3模块】  质量异常追踪 · 工艺与产品变更管理 · 产品管理与供应链审查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【系统设置  6模块】  组织权限 · 流程中心 · 自定义表单 · 数据字典 · 三方集成 · 服务管理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【办公协同  7模块】  协同总览 · 待办与审批 · 公告通知 · 日程会议 · 文档协作 · U Connect · 绩效与激励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模块全景 · 上：安全基础三域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34 个模块 · 8 大业务域 — 上页展示安全、合规、资产三个核心运营域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" y="1512000"/>
            <a:ext cx="3438984" cy="10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8 个模块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安全与风险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风险管控 · 隐患排查 · 智能检查
数字化作业票 · 承包商管理
AI 视频识别 · 物联智能 · 应急物资
全链路守住安全底线，从感知到处置形成完整闭环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984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4984" y="1512000"/>
            <a:ext cx="3438984" cy="10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4984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C13C"/>
                </a:solidFill>
                <a:latin typeface="Inter"/>
                <a:ea typeface="PingFang SC"/>
              </a:rPr>
              <a:t>2 个模块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4984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行动与合规中心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4984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整改中心 · 合规与法规
整改中心承接全平台隐患，统一调度跟踪；
合规与法规内置法规知识库，
AI 检查时自动匹配法规条文，
让每一条整改建议都有法规依据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3968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3968" y="1512000"/>
            <a:ext cx="3438984" cy="108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3968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E13C"/>
                </a:solidFill>
                <a:latin typeface="Inter"/>
                <a:ea typeface="PingFang SC"/>
              </a:rPr>
              <a:t>3 个模块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968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资产与知识库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968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人员资质与培训 · 设备合规台账
安全知识库
人 + 设备 + 知识三维台账联动；
资质绑定、复训提醒自动触发，
设备证书到期预警，
知识库支撑 AI 培训课件自动生成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模块全景 · 下：战略输出三域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34 个模块 · 8 大业务域 — 下页展示环境可持续、质量供应链、协同治理三个战略域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" y="1512000"/>
            <a:ext cx="3438984" cy="10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6000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2 个模块 · 零碳核心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环境与可持续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环境合规 · 可持续与 ESG
环境合规：实时监测大气、水、固废排放，
自动生成合规报告，对接政府监管平台。
可持续与 ESG：碳排放核算、减排路径规划、
GRI/TCFD 报告自动化生成，报告时间减少 80%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984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4984" y="1512000"/>
            <a:ext cx="3438984" cy="10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4984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C13C"/>
                </a:solidFill>
                <a:latin typeface="Inter"/>
                <a:ea typeface="PingFang SC"/>
              </a:rPr>
              <a:t>3 个模块 · Scope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4984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质量与产品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4984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质量异常追踪 · 工艺与产品变更管理
产品管理与供应链审查
锂电池/制造业园区的供应链碳足迹管控核心；
工艺变更与碳排放联动分析，
满足下游车企 Scope 3 碳核查要求，
支撑产品 PCF 报告编制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3968" y="1512000"/>
            <a:ext cx="3438984" cy="4878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3968" y="1512000"/>
            <a:ext cx="3438984" cy="108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3968" y="1800000"/>
            <a:ext cx="307898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E13C"/>
                </a:solidFill>
                <a:latin typeface="Inter"/>
                <a:ea typeface="PingFang SC"/>
              </a:rPr>
              <a:t>13 个模块 · 数字底座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968" y="2124000"/>
            <a:ext cx="3078984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216"/>
                </a:solidFill>
                <a:latin typeface="Inter"/>
                <a:ea typeface="PingFang SC"/>
              </a:rPr>
              <a:t>工作台 · 协同 · 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968" y="2844000"/>
            <a:ext cx="3078984" cy="3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协同总览 · 待办与审批 · U Connect
公告通知 · 日程会议 · 文档协作
绩效与激励 · 流程中心 · 三方集成
园区与租户统一数字连接（U Connect）；
三方集成打通 ERP/BMS/政府碳报平台；
AI 智能助理贯穿所有域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CHAPTER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七大场景深度应用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场景一：绿色建设期承包商全链路管控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铸造 · 水泥 · 锂电池工厂绿色改造期间，外来承包商激增、高危作业频繁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痛点与风险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绿色改造期间，园区同时容纳数十支外包队伍，涉及动火、高处、受限空间等高危作业。
• 证书过期无人预警，资质造假难以发现
• 作业票审批跑断腿，中途无法通知中止
• 入场培训流于形式，与作业许可脱节
• 风险管控缺乏统一驾驶舱，隐患分散不聚合
一旦发生安全事故，绿色认证进度直接中断，影响园区融资节奏。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平台解题路径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▸ 风险管控 + 隐患排查
建立园区风险驾驶舱，实时汇总建设期所有隐患；
隐患自动流转整改中心，全程留痕可追溯。
▸ 承包商管理
黑名单拦截违规人员；证书到期自动预警；
数据驱动表现评分，每次作业留痕，替代凭印象考核。
▸ 数字化作业票（8 类预置）
动火/高处/受限空间作业，手机端创建 + AI 风险预评估 +
电子签名，中途异常一键通知所有人中止。
▸ 人员资质与培训
承包商入场前在线培训 + 考试，不合格无法创建作业票，形成硬性门槛。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场景二：日常安全巡检与隐患清零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数据中心 · 锂电池工厂要求 7x24h 零盲区监控，传统人工巡检无法满足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痛点与风险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数据中心须防范电气火灾与未授权访问；
锂电池工厂热失控、化学品泄漏属极高风险场景。
传统人工巡检的三大短板：
• 班次交接存在时间盲区，夜班覆盖率无法核验
• 隐患照片靠微信传，整改结果无系统闭环
• 发现问题 → 整改落实之间，缺乏统一调度中枢
安全事故往往发生在无人值守的瞬间。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平台解题路径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▸ 智能检查
AI 一键生成行业专属巡检模板（电气柜、消防、化学品储存等），
手机端扫码执行，隐患照片直传，自动派发整改任务。
▸ AI 视频识别（20+ 风险场景）
无需更换摄像头，识别未戴安全帽、违规明火、禁区闯入等风险；
7x24h 在线，秒级告警 + 截图取证，直接推送整改中心。
▸ 整改中心
承接全平台所有隐患（巡检 + AI 视频 + 物联告警），
统一调度跟踪整改进度，逾期自动升级通知。
▸ 物联智能
接入烟感、温感、用电监测等现有设备，
异常信号直接触发告警并写入整改中心。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场景三：物联智能驱动的碳排放实时感知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物理设备数据入口——没有物联接入，碳账就是月末人工填报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痛点与风险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零碳认证的核心是数据可信、可追溯：
• 数据中心 PUE 须实时监控并向客户证明
• 水泥、铸造吨产品碳排是碳市场配额核算基础
• 锂电池工厂须向车企提供产品碳足迹（PCF）
传统困境：
• 能耗数据分散各子系统，无统一采集入口
• 设备运行状态靠人工记录，误差大、滞后严重
• 无法区分正常生产能耗与设备故障造成的能耗浪费
碳账数据一旦被质疑，绿色认证申请即告中止。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平台解题路径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▸ 物联智能
兼容园区现有电表、热表、气表、传感器；
设备数据实时采集，接入统一数据总线；
异常能耗自动触发告警并关联设备合规台账。
▸ 环境合规
大气排放、废水、固废等环境指标实时监测，
自动生成合规报告，直接对接政府环保监管平台；
碳排放数据全程留痕，满足 ISO 14064 第三方核查。
▸ 设备合规台账
统一管理园区所有能耗设备：预防性维护减少非计划停机，
设备证书到期自动提醒，
设备更换/升级与碳减排效果联动分析。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场景四：可持续与 ESG 报告自动化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将原本 3-4 个月的手工报告压缩至数天，同时支撑 GRI · TCFD · ISO 14064 多框架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痛点与风险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ESG 披露已是刚性义务：
• 上交所/深交所上市公司须强制 ESG 披露
• 绿色信贷授信需提供第三方核查 ESG 报告
• 下游大客户要求 Scope 1/2/3 碳数据
传统编写方式三大症结：
• 数据收集靠人工汇总，格式混乱、版本冲突
• 报告撰写耗时 3-4 个月，大量时间用于格式排版
• GRI/TCFD/ISO 14064 框架切换困难，
  一套数据无法复用为多份报告
数据质量差，无法通过第三方审计，绿色债券发行受阻。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平台解题路径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▸ 可持续与 ESG
对话式信息收集，上传能耗账单、检查记录、培训数据等多格式文件；
AI 自动解析提取结构化数据，一键生成符合 GRI/TCFD 框架的完整报告；
支持二次编辑与自动排版美化，报告编写时间减少 80%。
数据安全承诺：完全存储在园区私有环境，不上传第三方云端。
▸ 三方集成（系统设置）
与政府碳报平台、能源管理系统（BMS/EMS）、ERP 直连，
碳排放数据自动同步，消除人工导出环节，
报告数据与生产系统实时保持一致。
▸ 合规与法规
内置最新 ESG 法规与标准库，报告生成时自动校验合规性。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场景五：人员资质与培训全生命周期合规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从入职到离场，每一张证书、每一次培训都有数字档案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痛点与风险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高排放园区人员合规复杂度极高：
• 铸造/水泥/锂电池工厂涉及大量特种作业人员
  （焊工、电工、起重工、危化品操作工）
• 职业病危害类别多（粉尘、噪声、有毒有害），
  健康监测周期长，易遗漏
• 年度安全培训组织难、考试阅卷费时，
  电子学习档案缺失，合规审查时手忙脚乱
一旦特种作业证书失效、职业病认定纠纷，
企业将面临行政处罚与巨额赔偿。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平台解题路径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▸ 人员资质与培训
特种作业证书统一管理，到期前自动提醒复训；
AI 自动生成专项安全课件（焊接/化学品/电气等），
游戏化学习提升完课率；电子档案完整留痕，
一键生成合规培训报告应对审查。
▸ 合规与法规
内置国家特种作业法规与行业标准，
培训内容自动与最新法规对齐，避免过时课件。
▸ 整改中心（人员行为联动）
AI 视频识别发现的行为违规（不戴安全帽、违章操作）
直接触发定向培训推送，形成违规 → 整改 → 培训的闭环。
▸ 绩效与激励
安全行为积分与绩效挂钩，正向激励全员安全合规参与。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场景六：供应链碳足迹管控（Scope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锂电池 · 化工 · 精密制造：下游客户碳核查已成入场门槛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痛点与风险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供应链碳管控是新能源产业园区的必答题：
• 车企要求电池供应商提交每批产品的
  产品碳足迹（PCF）报告，无法提供则失去订单
• 工艺变更（配方调整、设备更换）会直接影响
  单位产品碳排放，变更管控缺失导致碳账失真
• 原材料供应商碳强度差异大，
  无系统化审查机制无法识别高碳风险供应商
质量异常与碳排放数据割裂，
无法还原产品全生命周期的碳排放路径。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平台解题路径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▸ 工艺与产品变更管理
所有工艺变更须经数字化审批流程，
变更前自动评估对碳排放强度的影响，
变更记录永久留存，支撑 PCF 报告可追溯性。
▸ 产品管理与供应链审查
供应商碳强度数据纳入准入审查；
定期供应链碳排放评估报告自动生成，
高碳风险供应商触发整改通知或黑名单机制。
▸ 质量异常追踪
质量缺陷与生产能耗异常联动分析，
定位高碳排放的生产环节，
为工艺优化和减排路径规划提供数据基础。
▸ 可持续与 ESG
将供应链碳数据汇入园区 ESG 报告 Scope 3 章节，自动合并披露。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场景七：园区数字化协同治理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园区运营方与企业租户之间，需要一套统一的数字化连接器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痛点与风险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零碳园区不只是技术问题，更是治理问题：
• 园区运营方需统一向数十家租户企业
  发布安全政策、碳排放要求、整改通知
• ESG 数据收集靠逐家发邮件、填表格，
  数据不一致、版本混乱
• 跨部门审批（绿色认证、大型作业许可、
  设备采购）流程冗长，纸质签字追不上
• 没有统一绩效体系，安全与低碳工作
  无法量化激励，难以形成文化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平台解题路径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▸ U Connect 协同
园区运营方与所有企业租户建立统一数字连接；
通知、整改要求、ESG 数据请求一键推送，
反馈记录全部留存，替代微信群和邮件链。
▸ 待办与审批 + 流程中心
绿色认证、设备更换、大型作业等审批流程
通过流程中心自定义配置，手机端一键签批，
全程可追踪、可审计。
▸ 公告与通知 + 日程与会议
碳配额清缴提醒、安全演练通知、ESG 委员会会议
统一在平台内管理，确保重要节点不遗漏。
▸ 绩效与激励
安全合规、减排贡献纳入量化绩效指标，
正向激励零碳文化在全园区落地。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CHAPTER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综合价值收益与实施路径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五维价值收益：安全 · 碳管理 · 效率 · 供应链 · 品牌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每一项收益均有具体模块能力支撑，而非空泛承诺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2000" y="1800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EC99E"/>
                </a:solidFill>
                <a:latin typeface="Inter"/>
                <a:ea typeface="PingFang SC"/>
              </a:rPr>
              <a:t>80%+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0" y="2844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ESG 报告编写效率提升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000" y="3276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可持续与ESG模块：3-4个月压缩至数天，支持GRI/TCFD/ISO多框架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8476" y="1512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4476" y="1800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216"/>
                </a:solidFill>
                <a:latin typeface="Inter"/>
                <a:ea typeface="PingFang SC"/>
              </a:rPr>
              <a:t>7x24h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4476" y="2844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安全监控全覆盖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4476" y="3276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AI视频+物联智能+整改中心：无盲区监控，告警秒级，整改闭环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000" y="4095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0" y="4383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216"/>
                </a:solidFill>
                <a:latin typeface="Inter"/>
                <a:ea typeface="PingFang SC"/>
              </a:rPr>
              <a:t>Scope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0" y="5427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供应链碳足迹可追溯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" y="5859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质量与产品三模块联动：产品PCF报告可出，满足车企/大客户核查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8476" y="4095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4476" y="4383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5CC13C"/>
                </a:solidFill>
                <a:latin typeface="Inter"/>
                <a:ea typeface="PingFang SC"/>
              </a:rPr>
              <a:t>34模块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4476" y="5427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全链路数字化覆盖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476" y="5859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8大业务域打通，安全·碳·质量·协同数据统一底座，消除信息孤岛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三阶段实施路径：18 个月从安全基础到 ESG 战略全面落地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分阶段推进，每阶段均有独立交付价值，风险可控，私有化部署数据不出园区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11492" y="2203200"/>
            <a:ext cx="7165968" cy="576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67492" y="2088000"/>
            <a:ext cx="288000" cy="288000"/>
          </a:xfrm>
          <a:prstGeom prst="round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1440000"/>
            <a:ext cx="3510984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C99E"/>
                </a:solidFill>
                <a:latin typeface="Inter"/>
                <a:ea typeface="PingFang SC"/>
              </a:rPr>
              <a:t>Phase 1  0-6M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" y="2520000"/>
            <a:ext cx="336698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安全基础层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" y="3132000"/>
            <a:ext cx="3366984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sz="1100" b="0">
                <a:solidFill>
                  <a:srgbClr val="8A9199"/>
                </a:solidFill>
                <a:latin typeface="Inter"/>
                <a:ea typeface="PingFang SC"/>
              </a:rPr>
              <a:t>智能检查 · 数字化作业票
承包商管理 · AI视频识别
整改中心 · 物联智能接入
消除最高优先级安全风险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8476" y="2088000"/>
            <a:ext cx="288000" cy="288000"/>
          </a:xfrm>
          <a:prstGeom prst="round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6984" y="1440000"/>
            <a:ext cx="3510984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C99E"/>
                </a:solidFill>
                <a:latin typeface="Inter"/>
                <a:ea typeface="PingFang SC"/>
              </a:rPr>
              <a:t>Phase 2  6-12M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8984" y="2520000"/>
            <a:ext cx="336698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合规与碳能层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8984" y="3132000"/>
            <a:ext cx="3366984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sz="1100" b="0">
                <a:solidFill>
                  <a:srgbClr val="8A9199"/>
                </a:solidFill>
                <a:latin typeface="Inter"/>
                <a:ea typeface="PingFang SC"/>
              </a:rPr>
              <a:t>人员资质与培训 · 设备台账
环境合规 · 质量与供应链
三方集成打通BMS/ERP
支撑绿色认证申请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9460" y="2088000"/>
            <a:ext cx="288000" cy="288000"/>
          </a:xfrm>
          <a:prstGeom prst="round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7968" y="1440000"/>
            <a:ext cx="3510984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C99E"/>
                </a:solidFill>
                <a:latin typeface="Inter"/>
                <a:ea typeface="PingFang SC"/>
              </a:rPr>
              <a:t>Phase 3  12-18M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9968" y="2520000"/>
            <a:ext cx="3366984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ESG战略层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9968" y="3132000"/>
            <a:ext cx="3366984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</a:pPr>
            <a:r>
              <a:rPr sz="1100" b="0">
                <a:solidFill>
                  <a:srgbClr val="8A9199"/>
                </a:solidFill>
                <a:latin typeface="Inter"/>
                <a:ea typeface="PingFang SC"/>
              </a:rPr>
              <a:t>可持续与ESG全面启用
U Connect连接园区租户
绩效与激励落地
首份GRI/TCFD报告对外发布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6000" y="1008000"/>
            <a:ext cx="10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3EC99E"/>
                </a:solidFill>
                <a:latin typeface="Inter"/>
                <a:ea typeface="PingFang SC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8000" y="1944000"/>
            <a:ext cx="10532952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0">
                <a:solidFill>
                  <a:srgbClr val="FFFFFF"/>
                </a:solidFill>
                <a:latin typeface="Inter"/>
                <a:ea typeface="PingFang SC"/>
              </a:rPr>
              <a:t>零碳园区不是一个认证标牌，而是一套每天运转的数字化体系。
安全不出事，碳账算得清，供应链交得了差——
这三件事同时做到，才叫真正的零碳园区运营中枢。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56000" y="4032000"/>
            <a:ext cx="1152000" cy="5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4212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99E"/>
                </a:solidFill>
                <a:latin typeface="Inter"/>
                <a:ea typeface="PingFang SC"/>
              </a:rPr>
              <a:t>ArktechX 零碳园区解决方案团队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4716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8 大业务域 · 34 核心模块 · Enterprise AI &amp; EHS · 2026</a:t>
            </a:r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1317" y="6462000"/>
            <a:ext cx="997635" cy="25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32000"/>
            <a:ext cx="12188952" cy="126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000" y="1152000"/>
            <a:ext cx="867497" cy="86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6000" y="2736000"/>
            <a:ext cx="10676952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5CC13C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Inter"/>
                <a:ea typeface="PingFang SC"/>
              </a:rPr>
              <a:t>共建零碳园区新标准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4392000"/>
            <a:ext cx="10676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199"/>
                </a:solidFill>
                <a:latin typeface="Inter"/>
                <a:ea typeface="PingFang SC"/>
              </a:rPr>
              <a:t>info@ark-techx.com  ·  17887924530  ·  www.ark-techx.com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32000"/>
            <a:ext cx="12188952" cy="126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ktechX">
  <a:themeElements>
    <a:clrScheme name="ArktechX Colors">
      <a:dk1>
        <a:srgbClr val="0E1216"/>
      </a:dk1>
      <a:lt1>
        <a:srgbClr val="FFFFFF"/>
      </a:lt1>
      <a:dk2>
        <a:srgbClr val="3D444A"/>
      </a:dk2>
      <a:lt2>
        <a:srgbClr val="F2F3F5"/>
      </a:lt2>
      <a:accent1>
        <a:srgbClr val="3EC99E"/>
      </a:accent1>
      <a:accent2>
        <a:srgbClr val="C8E13C"/>
      </a:accent2>
      <a:accent3>
        <a:srgbClr val="319E7C"/>
      </a:accent3>
      <a:accent4>
        <a:srgbClr val="8A9199"/>
      </a:accent4>
      <a:accent5>
        <a:srgbClr val="D0D5DD"/>
      </a:accent5>
      <a:accent6>
        <a:srgbClr val="EAFAF5"/>
      </a:accent6>
      <a:hlink>
        <a:srgbClr val="3EC99E"/>
      </a:hlink>
      <a:folHlink>
        <a:srgbClr val="319E7C"/>
      </a:folHlink>
    </a:clrScheme>
    <a:fontScheme name="ArktechX Fonts">
      <a:majorFont>
        <a:latin typeface="Inter"/>
        <a:ea typeface="PingFang SC"/>
        <a:cs typeface=""/>
      </a:majorFont>
      <a:minorFont>
        <a:latin typeface="Inter"/>
        <a:ea typeface="PingFang SC"/>
        <a:cs typeface=""/>
      </a:minorFont>
    </a:fontScheme>
    <a:fmtScheme name="Arktech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0000" dist="12000" dir="5400000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2137</Words>
  <Application>WPS Docs</Application>
  <PresentationFormat>On-screen Show (4:3)</PresentationFormat>
  <Paragraphs>298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40" baseType="lpstr">
      <vt:lpstr>Arial</vt:lpstr>
      <vt:lpstr>SimSun</vt:lpstr>
      <vt:lpstr>Wingdings</vt:lpstr>
      <vt:lpstr>Arial</vt:lpstr>
      <vt:lpstr>Inter</vt:lpstr>
      <vt:lpstr>宋体-简</vt:lpstr>
      <vt:lpstr>PingFang SC</vt:lpstr>
      <vt:lpstr>Thonburi</vt:lpstr>
      <vt:lpstr>SimSun</vt:lpstr>
      <vt:lpstr>汉仪书宋二KW</vt:lpstr>
      <vt:lpstr>Microsoft YaHei</vt:lpstr>
      <vt:lpstr>汉仪旗黑</vt:lpstr>
      <vt:lpstr>Arial Unicode MS</vt:lpstr>
      <vt:lpstr>Calibri</vt:lpstr>
      <vt:lpstr>Helvetica Neue</vt:lpstr>
      <vt:lpstr>Inter</vt:lpstr>
      <vt:lpstr>苹方-简</vt:lpstr>
      <vt:lpstr>Times New Roman Regular</vt:lpstr>
      <vt:lpstr>Waseem Regular</vt:lpstr>
      <vt:lpstr>Wingdings</vt:lpstr>
      <vt:lpstr>Alibaba PuHuiTi 2.0 35 Thin</vt:lpstr>
      <vt:lpstr>Alibaba PuHuiTi 2.0 85 Bold</vt:lpstr>
      <vt:lpstr>Alibaba PuHuiTi 2.0 45 Light</vt:lpstr>
      <vt:lpstr>Alibaba PuHuiTi 2.0 55 Regular</vt:lpstr>
      <vt:lpstr>Alibaba PuHuiTi 2.0 65 Medium</vt:lpstr>
      <vt:lpstr>Alibaba PuHuiTi 2.0 75 SemiBold</vt:lpstr>
      <vt:lpstr>ArktechX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hid32130272</cp:lastModifiedBy>
  <cp:revision>3</cp:revision>
  <dcterms:created xsi:type="dcterms:W3CDTF">2026-05-29T09:01:02Z</dcterms:created>
  <dcterms:modified xsi:type="dcterms:W3CDTF">2026-05-29T09:01:02Z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E37120D38382C63CBC54196A1B9EFEB1_42</vt:lpwstr>
  </property>
  <property fmtid="{D5CDD505-2E9C-101B-9397-08002B2CF9AE}" pid="3" name="KSOProductBuildVer">
    <vt:lpwstr>1033-12.1.25897.25897</vt:lpwstr>
  </property>
</Properties>
</file>