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5"/>
    <p:sldId id="267" r:id="rId4"/>
    <p:sldId id="268" r:id="rId3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8000"/>
            <a:ext cx="126000" cy="306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tacked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96000"/>
            <a:ext cx="939789" cy="93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000" y="2340000"/>
            <a:ext cx="7380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gradFill rotWithShape="1">
                  <a:gsLst>
                    <a:gs pos="0">
                      <a:srgbClr val="3EC99E">
                        <a:alpha val="100000"/>
                      </a:srgbClr>
                    </a:gs>
                    <a:gs pos="48000">
                      <a:srgbClr val="5CC13C">
                        <a:alpha val="100000"/>
                      </a:srgbClr>
                    </a:gs>
                    <a:gs pos="100000">
                      <a:srgbClr val="C8E13C">
                        <a:alpha val="100000"/>
                      </a:srgbClr>
                    </a:gs>
                  </a:gsLst>
                  <a:lin ang="0"/>
                </a:gradFill>
                <a:latin typeface="Inter"/>
                <a:ea typeface="PingFang SC"/>
              </a:rPr>
              <a:t>零碳园区里的环境健康安全管理模块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3852000"/>
            <a:ext cx="73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199"/>
                </a:solidFill>
                <a:latin typeface="Inter"/>
                <a:ea typeface="PingFang SC"/>
              </a:rPr>
              <a:t>Arksus 将作业安全、碳排放核算、供应链合规、ESG 报告整合进同一套系统，而不是一堆互不相连的工具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536000"/>
            <a:ext cx="73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FAF5"/>
                </a:solidFill>
                <a:latin typeface="Inter"/>
                <a:ea typeface="PingFang SC"/>
              </a:rPr>
              <a:t>ArktechX · 8 大业务域 · 34 核心模块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32000"/>
            <a:ext cx="12188952" cy="126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这份材料想讲清楚的五件事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不介绍所有功能——只讲对零碳园区最关键的那几件事是怎么解决的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40000"/>
            <a:ext cx="10676952" cy="4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从政策压力说起 — 哪些事情同时发生，让这件事变得不可回避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传统管理卡在哪里 — 三个地方反复出问题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Arksus 覆盖了什么 — 8 个业务域，34 个功能模块的完整地图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七个场景 — 承包商管控、碳感知、ESG 报告、供应链核查在园区里怎么运转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怎么落地 — 三阶段实施路径和每阶段的具体交付物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6045" y="0"/>
            <a:ext cx="3412906" cy="685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2160000"/>
            <a:ext cx="10676952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AFAF5"/>
                </a:solidFill>
                <a:latin typeface="Inter"/>
                <a:ea typeface="PingFang SC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2808000"/>
            <a:ext cx="10676952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</a:pPr>
            <a:r>
              <a:rPr sz="3800" b="1">
                <a:solidFill>
                  <a:srgbClr val="FFFFFF"/>
                </a:solidFill>
                <a:latin typeface="Inter"/>
                <a:ea typeface="PingFang SC"/>
              </a:rPr>
              <a:t>政策背景与现实压力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tacked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000" y="5832000"/>
            <a:ext cx="650623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三件事同时发生，让零碳园区从「可选」变成「必须」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碳市场 · 供应链核查 · 绿色金融 · 安全合规，四条线同时收紧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40000"/>
            <a:ext cx="10676952" cy="4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碳市场覆盖范围正在扩大，工业园区的碳配额压力不再只属于电力央企；高排放制造园区已是下一步纳入的明确对象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苹果、宝马等跨国品牌正在逐层核查供应链碳排放——能否提交 Scope 3 数据，直接影响合同续签，而不是「有则更好」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绿色信贷利差在扩大：能出具可信 ESG 报告的园区，融资成本已明显低于无法出具的同类，这个差距每年都在加大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安全事故一票否决绿色认证进度：安全管理与碳管理要用同一套系统，才能让合规真正协同，不只是两份独立清单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四类高排放园区：挑战高度相似，数字化起点普遍偏低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铸造厂 · 水泥厂 · 数据中心 · 锂电池工厂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6000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6000" y="1512000"/>
            <a:ext cx="3438984" cy="10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重工业 · 高危作业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铸造 &amp; 水泥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000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每天都有动火、受限空间作业要审批，
职业病风险多，承包商占比高。
碳排放强度大，但能耗数据分散在各个
生产系统里，碳账很难算清楚。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4984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4984" y="1512000"/>
            <a:ext cx="3438984" cy="10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4984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C13C"/>
                </a:solidFill>
                <a:latin typeface="Inter"/>
                <a:ea typeface="PingFang SC"/>
              </a:rPr>
              <a:t>高能耗 · 高密度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4984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数据中心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4984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PUE 是向客户和监管机构证明绿色运营
的核心指标，每月都在被追问。
机房安全巡检和合规要求不低，
但人手通常很紧，7x24 覆盖难做到。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3968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8FBE7"/>
          </a:solidFill>
          <a:ln w="9525">
            <a:solidFill>
              <a:srgbClr val="DBE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3968" y="1512000"/>
            <a:ext cx="3438984" cy="108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3968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E13C"/>
                </a:solidFill>
                <a:latin typeface="Inter"/>
                <a:ea typeface="PingFang SC"/>
              </a:rPr>
              <a:t>新能源供应链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968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锂电池工厂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968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热失控风险高，工艺变更管控严。
下游车企正在逐层要求供应商提交
产品碳足迹报告，已开始影响合同续签。
特种作业证书合规要求也极高。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6045" y="0"/>
            <a:ext cx="3412906" cy="685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2160000"/>
            <a:ext cx="10676952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AFAF5"/>
                </a:solidFill>
                <a:latin typeface="Inter"/>
                <a:ea typeface="PingFang SC"/>
              </a:rPr>
              <a:t>CHAPTER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2808000"/>
            <a:ext cx="10676952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</a:pPr>
            <a:r>
              <a:rPr sz="3800" b="1">
                <a:solidFill>
                  <a:srgbClr val="FFFFFF"/>
                </a:solidFill>
                <a:latin typeface="Inter"/>
                <a:ea typeface="PingFang SC"/>
              </a:rPr>
              <a:t>传统管理卡在哪里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tacked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000" y="5832000"/>
            <a:ext cx="650623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问题不是不努力，是现有工具本身撑不住这个场景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三个地方反复出问题，背后是同一个原因：数据分散、流程断档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6000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6000" y="1512000"/>
            <a:ext cx="3438984" cy="10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安全日常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检查出来的问题，不知道到底整改了没有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000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巡检照片靠微信传，整改回复也在微信。
到月底谁也说不清这条隐患关闭没有，
下次巡检翻出来才知道——又是同一个问题。
高危作业票靠纸质审批，中途出了状况，
现场没人能及时通知所有人中止。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4984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4984" y="1512000"/>
            <a:ext cx="3438984" cy="10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4984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C13C"/>
                </a:solidFill>
                <a:latin typeface="Inter"/>
                <a:ea typeface="PingFang SC"/>
              </a:rPr>
              <a:t>碳与 ESG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4984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碳账不是不想算，是数据根本拿不齐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4984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能耗数据分散在各子系统，月末才能汇总，
汇总完还要核对，核对完也不确定能过审计。
锂电池工厂无法向车企提供产品碳足迹报告；
ESG 报告靠人工凑材料，一写三四个月。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3968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8FBE7"/>
          </a:solidFill>
          <a:ln w="9525">
            <a:solidFill>
              <a:srgbClr val="DBE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3968" y="1512000"/>
            <a:ext cx="3438984" cy="108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3968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E13C"/>
                </a:solidFill>
                <a:latin typeface="Inter"/>
                <a:ea typeface="PingFang SC"/>
              </a:rPr>
              <a:t>治理与协同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968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重要的事靠微信群，重要的文件靠邮件附件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968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园区运营方和几十家租户之间没有正式数字渠道。
整改要求怎么发、ESG 数据怎么收、
审批流程怎么追——全靠人去跟，跟不动就放着。
出了合规审查，这些记录一条也查不到。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6045" y="0"/>
            <a:ext cx="3412906" cy="685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2160000"/>
            <a:ext cx="10676952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AFAF5"/>
                </a:solidFill>
                <a:latin typeface="Inter"/>
                <a:ea typeface="PingFang SC"/>
              </a:rPr>
              <a:t>CHAPTER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2808000"/>
            <a:ext cx="10676952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</a:pPr>
            <a:r>
              <a:rPr sz="3800" b="1">
                <a:solidFill>
                  <a:srgbClr val="FFFFFF"/>
                </a:solidFill>
                <a:latin typeface="Inter"/>
                <a:ea typeface="PingFang SC"/>
              </a:rPr>
              <a:t>Arksus 平台全景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tacked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000" y="5832000"/>
            <a:ext cx="650623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8 个业务域，34 个模块，共用一套数据底座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不是功能的堆砌——各域数据互相打通，安全事件、碳排放、供应链记录可以关联查看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40000"/>
            <a:ext cx="10676952" cy="4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工作台（3 模块）  仪表盘 · 个人任务中心 · AI 智能助理 — 每个人登录后看到自己需要处理的事，AI 助理降低使用门槛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安全与风险（8 模块）  风险管控 · 隐患排查 · 智能检查 · 数字化作业票 · 承包商管理 · AI 视频识别 · 物联智能 · 应急物资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行动与合规（2 模块）  整改中心承接全平台所有问题统一调度；合规与法规内置法规库，AI 推荐整改措施时有条文可引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资产与知识（3 模块）  人员资质与培训 · 设备合规台账 · 安全知识库 — 人、设备、知识三类基础数据，支撑其他所有模块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环境与可持续（2 模块）  环境合规 + 可持续与 ESG — 零碳园区最核心的两个模块：碳排放核算、ESG 报告自动化生成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质量与产品（3 模块）  工艺变更管控 · 供应链审查 · 质量异常追踪 — 服务于有 Scope 3 压力的制造型园区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系统设置（6 模块）  流程可自定义、表单可配置，支持与 ERP、BMS、政府碳报平台做三方集成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办公协同（7 模块）  U Connect 连接园区与租户；待办审批、公告通知、绩效激励一体化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模块地图 · 安全基础三域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安全与风险 · 行动与合规 · 资产与知识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6000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6000" y="1512000"/>
            <a:ext cx="3438984" cy="10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8 个模块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安全与风险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000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风险管控 · 隐患排查 · 智能检查
数字化作业票 · 承包商管理
AI 视频识别 · 物联智能 · 应急物资
8 个模块里的数据会汇聚到整改中心统一
调度，不是孤立工具的堆砌。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4984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4984" y="1512000"/>
            <a:ext cx="3438984" cy="10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4984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C13C"/>
                </a:solidFill>
                <a:latin typeface="Inter"/>
                <a:ea typeface="PingFang SC"/>
              </a:rPr>
              <a:t>2 个模块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4984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行动与合规中心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4984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整改中心 · 合规与法规
整改中心承接全平台所有发现的问题——
不管隐患从哪里来，都在这里统一跟踪，
超期自动升级通知。
合规与法规内置法规库，让每条整改
建议都有具体条文可以引用。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3968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8FBE7"/>
          </a:solidFill>
          <a:ln w="9525">
            <a:solidFill>
              <a:srgbClr val="DBE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3968" y="1512000"/>
            <a:ext cx="3438984" cy="108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3968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E13C"/>
                </a:solidFill>
                <a:latin typeface="Inter"/>
                <a:ea typeface="PingFang SC"/>
              </a:rPr>
              <a:t>3 个模块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968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资产与知识库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968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人员资质与培训 · 设备合规台账
安全知识库
人的证书、设备的合规档案、知识库里的
操作规范——三类基础数据。
证书到期提醒是自动的，培训课件是
AI 生成的，维护计划是系统排的。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模块地图 · 战略输出三域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环境与可持续 · 质量与产品 · 工作台协同系统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6000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6000" y="1512000"/>
            <a:ext cx="3438984" cy="10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2 个模块 · 零碳核心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环境与可持续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000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环境合规 · 可持续与 ESG
环境合规处理日常排放监测和政府报告；
可持续与 ESG 负责碳排放核算和报告
自动生成。
这两个模块是整个平台在零碳园区里
最重要的价值所在。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4984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4984" y="1512000"/>
            <a:ext cx="3438984" cy="10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4984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C13C"/>
                </a:solidFill>
                <a:latin typeface="Inter"/>
                <a:ea typeface="PingFang SC"/>
              </a:rPr>
              <a:t>3 个模块 · Scope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4984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质量与产品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4984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质量异常追踪 · 工艺与产品变更管理
产品管理与供应链审查
服务于有 Scope 3 核查压力的制造型园区。
工艺变更记录和供应商碳强度数据，
是提交产品碳足迹报告的数据基础。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3968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8FBE7"/>
          </a:solidFill>
          <a:ln w="9525">
            <a:solidFill>
              <a:srgbClr val="DBE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3968" y="1512000"/>
            <a:ext cx="3438984" cy="108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3968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E13C"/>
                </a:solidFill>
                <a:latin typeface="Inter"/>
                <a:ea typeface="PingFang SC"/>
              </a:rPr>
              <a:t>13 个模块 · 数字底座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968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工作台 · 协同 · 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968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AI 智能助理 · U Connect
流程中心 · 待办审批 · 绩效激励
三方集成（ERP / BMS / 政府平台）
U Connect 把园区和租户企业连成
一个可以正式沟通的网络；三方集成
让系统适配现有 IT 环境，不推倒重来。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6045" y="0"/>
            <a:ext cx="3412906" cy="685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2160000"/>
            <a:ext cx="10676952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AFAF5"/>
                </a:solidFill>
                <a:latin typeface="Inter"/>
                <a:ea typeface="PingFang SC"/>
              </a:rPr>
              <a:t>CHAPTER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2808000"/>
            <a:ext cx="10676952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</a:pPr>
            <a:r>
              <a:rPr sz="3800" b="1">
                <a:solidFill>
                  <a:srgbClr val="FFFFFF"/>
                </a:solidFill>
                <a:latin typeface="Inter"/>
                <a:ea typeface="PingFang SC"/>
              </a:rPr>
              <a:t>七个场景：系统在园区里实际怎么运转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tacked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000" y="5832000"/>
            <a:ext cx="650623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场景一：绿色建设期，承包商怎么管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铸造 · 水泥 · 锂电池改造期间，几十支外包队伍同时入场，高危作业每天都有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实际情况是这样的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绿色改造期间，园区可能同时有几十支外包
队伍在施工。动火、高处、受限空间作业每天
都有，每个人的资质都需要核查。
证书过期了没人知道，作业票审批靠纸质来回
跑，培训走个形式就算过——这三件事单独看
能应付，叠在一起就是事故的前置条件。
一旦出事，绿色认证申请也得暂停。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476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系统做了什么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2476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承包商资质进系统后，快到期的证书会自动
提醒；过期的人，无法被分配到作业票申请里。
这个限制是系统强制的，不依赖 HSE 人员盯住。
八类高危作业票移到手机上完成：申请人提交
时 AI 先标注风险点，审批人在手机端签字，
中途出问题可以一键通知所有人中止作业。
新入场的承包商在开始工作之前，必须先在
系统里完成在线安全培训并通过考试。没通过
的，创建不了作业票——这个门槛不需要人提醒。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620000"/>
            <a:ext cx="14400" cy="4626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场景二：日常安全巡检，问题怎么跟到关闭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数据中心 · 锂电池工厂：人手有限，但巡检不能有盲区，发现的问题不能不了了之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实际情况是这样的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数据中心和锂电池工厂的安全要求都不低，
但人手通常紧。7x24 全覆盖的人工巡检
本来就难做到，更大的问题是：
即使检查到了问题，之后的整改往往没人跟。
照片发在微信群，整改回复也在微信群。
到月底谁也说不清这条隐患关闭没有，
下次巡检翻出来才知道——又是同一个问题。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476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系统做了什么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2476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智能检查把巡检表单做成标准化流程：模板由
AI 根据场景生成，巡检员在手机上填表拍照，
发现问题自动派发整改任务，整改完成才能
关闭这条记录。
AI 视频识别利用现有摄像头，识别未戴安全帽、
违规明火、禁区闯入等二十多类场景，发现后
直接推入整改中心统一处理。
整改中心把所有来源的问题——巡检发现的、
AI 视频发现的、物联设备告警的——放在一起
跟踪。哪条超期了，自动升级通知，靠系统，
不靠人记。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620000"/>
            <a:ext cx="14400" cy="4626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场景三：碳账要算清，数据先得接进来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数据中心 · 水泥 · 锂电池工厂：碳排放核算的前提是实时采集，不是月末人工填报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卡在哪里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碳排放数据可信的前提，是能被实时采集。
数据中心的 PUE、水泥厂的窑炉能耗、
锂电池工厂的空调用电——这些都需要从
现有的电表、热表、传感器里持续采集，
才能算出真实的碳账。
很多园区卡在这一步：不是不想做，是
接入成本和技术门槛挡住了。设备是现有的，
数据却孤立在各个系统里，拿不出来。
月末手工汇总的数据，第三方核查时
很难说清每个数字从哪里来。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476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系统做了什么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2476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物联智能模块兼容主流工业传感器和仪表协议。
园区现有的采集设备大多数不需要换，数据
接进来后，异常能耗会自动触发告警，并关联
到设备合规台账——看这台设备是否需要维护。
环境合规模块处理大气、废水、固废的监测
数据，自动生成合规报告，支持直接对接政府
环保监管平台，不用手动导出再上传。
碳排放数据全程留痕，满足 ISO 14064 核查
的可追溯要求。这是申请绿色认证时最基础的
技术条件，先把它做扎实，后面才能接
ESG 报告。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620000"/>
            <a:ext cx="14400" cy="4626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场景四：ESG 报告，数据收集才是真正的难点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上交所 · 绿色信贷 · 大客户审查：三条线要求 ESG 披露，编报周期却长达数月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卡在哪里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编 ESG 报告本身不是难事，难的是数据收集。
各个部门、各套系统里的数据，要先汇总到
一起才能开始写。这一步通常要花两三个月，
占掉整个编报周期的大半时间。
写完之后如果遇到第三方审计，还要能说清楚
每个数据从哪里来。数据链路不清楚，报告
过不了审计，绿色债券就发不了。
GRI / TCFD / ISO 14064 格式切换困难，
一套数据无法复用为多份报告。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476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系统做了什么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2476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可持续与 ESG 模块把数据收集和报告生成
两步合在一起。上传账单、导出记录、填问卷，
AI 自动解析并整理成结构化数据，然后按
GRI 或 TCFD 格式生成报告草稿，可二次编辑。
三方集成让 ERP、BMS、政府碳报平台的数据
直接进来，不需要人工导出再粘贴。数据存在
园区自己的服务器上，不上传到第三方。
从数据收集到成稿，原来三四个月的事，
现在可以在数周内完成。合规与法规模块
内置最新 ESG 法规库，报告生成时自动
校验合规性，不需要人工逐条比对。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620000"/>
            <a:ext cx="14400" cy="4626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场景五：特种作业人员，证书管理靠什么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铸造 · 水泥 · 锂电池工厂：焊工、电工、起重工、危化品操作工，每种人的证书周期不一样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卡在哪里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靠表格管，靠人提醒，出了审查再补材料——
这套方式在人员规模稍大的时候就开始失控。
被发现证书过期的时候，往往是出了事之后。
职业病危害类别多（粉尘、噪声、有毒有害），
健康监测周期长，一旦遗漏，
企业面临的不只是行政处罚，
还有长期的赔偿风险。
年度安全培训组织难、考试阅卷费时，
电子学习档案缺失，合规审查时手忙脚乱。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476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系统做了什么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2476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人员资质台账把证书管理变成系统自动处理
的事：每张证书的到期日期进系统，到期前
提醒推给当事人和管理员，过期的人自动从
高危作业的可分配名单里移除，不需要谁去记。
培训课件由 AI 根据岗位类型生成，员工在
手机上完成学习和考试，学习记录全程保存。
AI 视频识别发现违规行为后，可以直接触发
定向培训推送——不只是记录一条告警，而是
真正把问题落到行动上。
绩效与激励把安全行为和绩效考核连起来，
让安全合规有正向反馈，不只是受限和惩罚。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620000"/>
            <a:ext cx="14400" cy="4626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场景六：供应链碳足迹，怎么向下游车企交差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锂电池园区的 Scope 3 核查：从原材料到出厂，每一个环节的碳排放都要说清楚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卡在哪里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下游车企越来越多地要求电池供应商提供
产品碳足迹（PCF）报告，从原材料到电芯
出厂每个环节都要说清楚。
麻烦在于：工厂内部的工艺变更很频繁，
每次配方调整或设备更换都可能影响单位
产品碳排放，但这件事通常没有系统记录。
碳账断了一环，整份 PCF 报告就没法交。
质量异常和碳排放数据割裂，
无法还原产品全生命周期的碳排放路径。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476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系统做了什么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2476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工艺与产品变更管理要求所有工艺变更走
审批流程，变更申请里会自动评估对碳排放
强度的影响，每次变更记录永久留存，
PCF 报告有了可追溯的数据链。
产品管理与供应链审查把原材料供应商的
碳强度纳入准入评估，高碳风险供应商
触发审查提醒，定期生成供应链碳排放报告。
质量异常追踪把质量缺陷和能耗异常做
关联分析——帮你找出哪些环节既是质量
风险点，又是高碳排放的来源，
这两件事通常有关联，分开看就看不到。
这些数据汇入 ESG 模块的 Scope 3 章节，
统一出现在对外披露的报告里。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620000"/>
            <a:ext cx="14400" cy="4626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场景七：园区治理，靠什么把几十家企业连起来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园区运营方与企业租户之间，需要一套正式的数字渠道，而不是微信群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现在的困境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零碳园区的治理难题，有一部分不在技术上，
在沟通上。
园区运营方需要向几十家租户发整改要求、
收 ESG 数据、推政策通知。靠微信群和邮件
做，既不正式，也留不下可查的记录。
审批流程靠线下跑，哪一步卡住了，
问一圈才知道。
没有统一的数字渠道，治理体系就只能
停在纸面上。出了合规审查，什么也查不到。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476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系统做了什么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2476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U Connect 是园区运营方和企业租户之间
的一个正式数字通道。通知可以定向推送，
整改要求可以指定接收人和截止日期，
ESG 数据请求可以用表单发出并跟踪回收——
都有记录，不依赖双方是否在同一个群里。
流程中心把常见审批流程配置好：绿色认证
材料的内部会签、设备采购申请、大型作业
许可——审批在手机上完成，哪一步卡住了
一眼看得出来，不需要催人。
绩效与激励把安全行为和减排贡献纳入考核，
让零碳目标不只是管理层的任务清单，
而是每个岗位都能参与的事。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620000"/>
            <a:ext cx="14400" cy="4626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6045" y="0"/>
            <a:ext cx="3412906" cy="685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2160000"/>
            <a:ext cx="10676952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AFAF5"/>
                </a:solidFill>
                <a:latin typeface="Inter"/>
                <a:ea typeface="PingFang SC"/>
              </a:rPr>
              <a:t>CHAPTER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2808000"/>
            <a:ext cx="10676952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</a:pPr>
            <a:r>
              <a:rPr sz="3800" b="1">
                <a:solidFill>
                  <a:srgbClr val="FFFFFF"/>
                </a:solidFill>
                <a:latin typeface="Inter"/>
                <a:ea typeface="PingFang SC"/>
              </a:rPr>
              <a:t>收益预期与三阶段落地路径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tacked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000" y="5832000"/>
            <a:ext cx="650623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四个维度的预期收益：每一条都有具体模块支撑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不是空泛承诺——每项收益背后是哪些模块做了什么，可以对应查看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6000" y="1512000"/>
            <a:ext cx="5194476" cy="2295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2000" y="1800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3EC99E"/>
                </a:solidFill>
                <a:latin typeface="Inter"/>
                <a:ea typeface="PingFang SC"/>
              </a:rPr>
              <a:t>80%+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000" y="2844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ESG 报告编写时间缩短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000" y="3276000"/>
            <a:ext cx="4762476" cy="3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可持续与 ESG 模块：从数据收集到成稿，3-4 个月压缩至数周，支持 GRI / TCFD / ISO 多框架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8476" y="1512000"/>
            <a:ext cx="5194476" cy="2295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4476" y="1800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216"/>
                </a:solidFill>
                <a:latin typeface="Inter"/>
                <a:ea typeface="PingFang SC"/>
              </a:rPr>
              <a:t>7x24h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4476" y="2844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安全监控无盲区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4476" y="3276000"/>
            <a:ext cx="4762476" cy="3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AI 视频识别 + 物联智能 + 整改中心：告警秒级，问题到整改关闭全程留痕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000" y="4095000"/>
            <a:ext cx="5194476" cy="2295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0" y="4383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216"/>
                </a:solidFill>
                <a:latin typeface="Inter"/>
                <a:ea typeface="PingFang SC"/>
              </a:rPr>
              <a:t>Scope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0" y="5427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产品碳足迹可出具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" y="5859000"/>
            <a:ext cx="4762476" cy="3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工艺变更管控 + 供应链审查 + 质量异常追踪三模块联动，支撑 PCF 报告编制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8476" y="4095000"/>
            <a:ext cx="5194476" cy="2295000"/>
          </a:xfrm>
          <a:prstGeom prst="roundRect">
            <a:avLst>
              <a:gd name="adj" fmla="val 20000"/>
            </a:avLst>
          </a:prstGeom>
          <a:solidFill>
            <a:srgbClr val="F8FBE7"/>
          </a:solidFill>
          <a:ln w="9525">
            <a:solidFill>
              <a:srgbClr val="DBE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4476" y="4383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5CC13C"/>
                </a:solidFill>
                <a:latin typeface="Inter"/>
                <a:ea typeface="PingFang SC"/>
              </a:rPr>
              <a:t>私有化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4476" y="5427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数据主权在园区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4476" y="5859000"/>
            <a:ext cx="4762476" cy="3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完全存储在园区自己的服务器里，不依赖公有云，不上传第三方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三阶段落地：18 个月从安全基础到 ESG 战略全面运转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分阶段推进，每阶段都有独立交付价值；私有化部署，数据不出园区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11492" y="2203200"/>
            <a:ext cx="7165968" cy="576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67492" y="2088000"/>
            <a:ext cx="288000" cy="288000"/>
          </a:xfrm>
          <a:prstGeom prst="round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000" y="1440000"/>
            <a:ext cx="3510984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EC99E"/>
                </a:solidFill>
                <a:latin typeface="Inter"/>
                <a:ea typeface="PingFang SC"/>
              </a:rPr>
              <a:t>Phase 1  0–6 个月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000" y="2520000"/>
            <a:ext cx="336698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E1216"/>
                </a:solidFill>
                <a:latin typeface="Inter"/>
                <a:ea typeface="PingFang SC"/>
              </a:rPr>
              <a:t>安全基础层先跑起来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00" y="3132000"/>
            <a:ext cx="3366984" cy="3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sz="1100" b="0">
                <a:solidFill>
                  <a:srgbClr val="8A9199"/>
                </a:solidFill>
                <a:latin typeface="Inter"/>
                <a:ea typeface="PingFang SC"/>
              </a:rPr>
              <a:t>数字化作业票 · 承包商管理
智能检查 · AI 视频识别
整改中心 · 物联智能接入
解决最紧迫的日常安全管理问题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78476" y="2088000"/>
            <a:ext cx="288000" cy="288000"/>
          </a:xfrm>
          <a:prstGeom prst="round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6984" y="1440000"/>
            <a:ext cx="3510984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EC99E"/>
                </a:solidFill>
                <a:latin typeface="Inter"/>
                <a:ea typeface="PingFang SC"/>
              </a:rPr>
              <a:t>Phase 2  6–12 个月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8984" y="2520000"/>
            <a:ext cx="336698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E1216"/>
                </a:solidFill>
                <a:latin typeface="Inter"/>
                <a:ea typeface="PingFang SC"/>
              </a:rPr>
              <a:t>合规与碳数据接通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8984" y="3132000"/>
            <a:ext cx="3366984" cy="3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sz="1100" b="0">
                <a:solidFill>
                  <a:srgbClr val="8A9199"/>
                </a:solidFill>
                <a:latin typeface="Inter"/>
                <a:ea typeface="PingFang SC"/>
              </a:rPr>
              <a:t>人员资质与培训 · 设备合规台账
环境合规 · 质量与供应链模块
三方集成打通 BMS / ERP
绿色认证申请所需数据链路基本成形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89460" y="2088000"/>
            <a:ext cx="288000" cy="288000"/>
          </a:xfrm>
          <a:prstGeom prst="round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7968" y="1440000"/>
            <a:ext cx="3510984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EC99E"/>
                </a:solidFill>
                <a:latin typeface="Inter"/>
                <a:ea typeface="PingFang SC"/>
              </a:rPr>
              <a:t>Phase 3  12–18 个月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9968" y="2520000"/>
            <a:ext cx="336698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E1216"/>
                </a:solidFill>
                <a:latin typeface="Inter"/>
                <a:ea typeface="PingFang SC"/>
              </a:rPr>
              <a:t>ESG 报告与协同治理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9968" y="3132000"/>
            <a:ext cx="3366984" cy="3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sz="1100" b="0">
                <a:solidFill>
                  <a:srgbClr val="8A9199"/>
                </a:solidFill>
                <a:latin typeface="Inter"/>
                <a:ea typeface="PingFang SC"/>
              </a:rPr>
              <a:t>可持续与 ESG 全面启用
U Connect 连接园区与租户
绩效与激励落地
第一份 GRI / TCFD 报告可以对外发布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6000" y="1008000"/>
            <a:ext cx="108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3EC99E"/>
                </a:solidFill>
                <a:latin typeface="Inter"/>
                <a:ea typeface="PingFang SC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8000" y="1944000"/>
            <a:ext cx="10532952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0">
                <a:solidFill>
                  <a:srgbClr val="FFFFFF"/>
                </a:solidFill>
                <a:latin typeface="Inter"/>
                <a:ea typeface="PingFang SC"/>
              </a:rPr>
              <a:t>园区做了很多事：装了摄像头、买了传感器、写了 ESG 报告——
但如果这些数据互相不认识，对外仍然是拼凑出来的材料。
Arksus 想做的，是让一套系统把这些数据连起来，
让该看到的人真的能看到。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56000" y="4032000"/>
            <a:ext cx="1152000" cy="5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4212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C99E"/>
                </a:solidFill>
                <a:latin typeface="Inter"/>
                <a:ea typeface="PingFang SC"/>
              </a:rPr>
              <a:t>ArktechX 零碳园区解决方案团队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4716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8 大业务域 · 34 核心模块 · Enterprise AI &amp; EHS · 2026</a:t>
            </a:r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1317" y="6462000"/>
            <a:ext cx="997635" cy="25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732000"/>
            <a:ext cx="12188952" cy="126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tacked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000" y="1152000"/>
            <a:ext cx="867497" cy="86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6000" y="2736000"/>
            <a:ext cx="10676952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gradFill rotWithShape="1">
                  <a:gsLst>
                    <a:gs pos="0">
                      <a:srgbClr val="3EC99E">
                        <a:alpha val="100000"/>
                      </a:srgbClr>
                    </a:gs>
                    <a:gs pos="48000">
                      <a:srgbClr val="5CC13C">
                        <a:alpha val="100000"/>
                      </a:srgbClr>
                    </a:gs>
                    <a:gs pos="100000">
                      <a:srgbClr val="C8E13C">
                        <a:alpha val="100000"/>
                      </a:srgbClr>
                    </a:gs>
                  </a:gsLst>
                  <a:lin ang="0"/>
                </a:gradFill>
                <a:latin typeface="Inter"/>
                <a:ea typeface="PingFang SC"/>
              </a:rPr>
              <a:t>把 EHS 管好，是零碳园区的基础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4392000"/>
            <a:ext cx="10676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199"/>
                </a:solidFill>
                <a:latin typeface="Inter"/>
                <a:ea typeface="PingFang SC"/>
              </a:rPr>
              <a:t>info@ark-techx.com  ·  17887924530  ·  www.ark-techx.com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32000"/>
            <a:ext cx="12188952" cy="126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ktechX">
  <a:themeElements>
    <a:clrScheme name="ArktechX Colors">
      <a:dk1>
        <a:srgbClr val="0E1216"/>
      </a:dk1>
      <a:lt1>
        <a:srgbClr val="FFFFFF"/>
      </a:lt1>
      <a:dk2>
        <a:srgbClr val="3D444A"/>
      </a:dk2>
      <a:lt2>
        <a:srgbClr val="F2F3F5"/>
      </a:lt2>
      <a:accent1>
        <a:srgbClr val="3EC99E"/>
      </a:accent1>
      <a:accent2>
        <a:srgbClr val="C8E13C"/>
      </a:accent2>
      <a:accent3>
        <a:srgbClr val="319E7C"/>
      </a:accent3>
      <a:accent4>
        <a:srgbClr val="8A9199"/>
      </a:accent4>
      <a:accent5>
        <a:srgbClr val="D0D5DD"/>
      </a:accent5>
      <a:accent6>
        <a:srgbClr val="EAFAF5"/>
      </a:accent6>
      <a:hlink>
        <a:srgbClr val="3EC99E"/>
      </a:hlink>
      <a:folHlink>
        <a:srgbClr val="319E7C"/>
      </a:folHlink>
    </a:clrScheme>
    <a:fontScheme name="ArktechX Fonts">
      <a:majorFont>
        <a:latin typeface="Inter"/>
        <a:ea typeface="PingFang SC"/>
        <a:cs typeface=""/>
      </a:majorFont>
      <a:minorFont>
        <a:latin typeface="Inter"/>
        <a:ea typeface="PingFang SC"/>
        <a:cs typeface=""/>
      </a:minorFont>
    </a:fontScheme>
    <a:fmtScheme name="ArktechX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0000" dist="12000" dir="5400000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2137</Words>
  <Application>WPS Docs</Application>
  <PresentationFormat>On-screen Show (4:3)</PresentationFormat>
  <Paragraphs>298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40" baseType="lpstr">
      <vt:lpstr>Arial</vt:lpstr>
      <vt:lpstr>SimSun</vt:lpstr>
      <vt:lpstr>Wingdings</vt:lpstr>
      <vt:lpstr>Arial</vt:lpstr>
      <vt:lpstr>Inter</vt:lpstr>
      <vt:lpstr>宋体-简</vt:lpstr>
      <vt:lpstr>PingFang SC</vt:lpstr>
      <vt:lpstr>Thonburi</vt:lpstr>
      <vt:lpstr>SimSun</vt:lpstr>
      <vt:lpstr>汉仪书宋二KW</vt:lpstr>
      <vt:lpstr>Microsoft YaHei</vt:lpstr>
      <vt:lpstr>汉仪旗黑</vt:lpstr>
      <vt:lpstr>Arial Unicode MS</vt:lpstr>
      <vt:lpstr>Calibri</vt:lpstr>
      <vt:lpstr>Helvetica Neue</vt:lpstr>
      <vt:lpstr>Inter</vt:lpstr>
      <vt:lpstr>苹方-简</vt:lpstr>
      <vt:lpstr>Times New Roman Regular</vt:lpstr>
      <vt:lpstr>Waseem Regular</vt:lpstr>
      <vt:lpstr>Wingdings</vt:lpstr>
      <vt:lpstr>Alibaba PuHuiTi 2.0 35 Thin</vt:lpstr>
      <vt:lpstr>Alibaba PuHuiTi 2.0 85 Bold</vt:lpstr>
      <vt:lpstr>Alibaba PuHuiTi 2.0 45 Light</vt:lpstr>
      <vt:lpstr>Alibaba PuHuiTi 2.0 55 Regular</vt:lpstr>
      <vt:lpstr>Alibaba PuHuiTi 2.0 65 Medium</vt:lpstr>
      <vt:lpstr>Alibaba PuHuiTi 2.0 75 SemiBold</vt:lpstr>
      <vt:lpstr>ArktechX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hid32130272</cp:lastModifiedBy>
  <cp:revision>3</cp:revision>
  <dcterms:created xsi:type="dcterms:W3CDTF">2026-05-29T09:01:02Z</dcterms:created>
  <dcterms:modified xsi:type="dcterms:W3CDTF">2026-05-29T09:01:02Z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E37120D38382C63CBC54196A1B9EFEB1_42</vt:lpwstr>
  </property>
  <property fmtid="{D5CDD505-2E9C-101B-9397-08002B2CF9AE}" pid="3" name="KSOProductBuildVer">
    <vt:lpwstr>1033-12.1.25897.25897</vt:lpwstr>
  </property>
</Properties>
</file>