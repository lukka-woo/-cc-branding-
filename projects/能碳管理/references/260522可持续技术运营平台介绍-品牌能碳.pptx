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81" r:id="rId11"/>
    <p:sldId id="265" r:id="rId12"/>
    <p:sldId id="283" r:id="rId13"/>
    <p:sldId id="267" r:id="rId14"/>
    <p:sldId id="268" r:id="rId15"/>
    <p:sldId id="275" r:id="rId16"/>
    <p:sldId id="277" r:id="rId17"/>
    <p:sldId id="278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arktechx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69855" y="6373495"/>
            <a:ext cx="1770380" cy="2838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3657600"/>
            <a:ext cx="6400800" cy="64008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400" b="1" kern="0" spc="8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可持续运营管理</a:t>
            </a:r>
            <a:r>
              <a:rPr lang="en-US" sz="1400" b="1" kern="0" spc="8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ArkSus® AI+ GEMP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0058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B"/>
                </a:solidFill>
                <a:latin typeface="Alibaba PuHuiTi 2.0 75 SemiBold" panose="00020600040101010101" charset="-122"/>
                <a:ea typeface="Alibaba PuHuiTi 2.0 75 SemiBold" panose="00020600040101010101" charset="-122"/>
                <a:cs typeface="Inter" pitchFamily="34" charset="-120"/>
              </a:rPr>
              <a:t>为头部品牌方上游供应商打造的合规一体</a:t>
            </a:r>
            <a:r>
              <a:rPr lang="zh-CN" altLang="en-US" sz="3200" b="1" dirty="0">
                <a:solidFill>
                  <a:srgbClr val="F5F7FB"/>
                </a:solidFill>
                <a:latin typeface="Alibaba PuHuiTi 2.0 75 SemiBold" panose="00020600040101010101" charset="-122"/>
                <a:ea typeface="Alibaba PuHuiTi 2.0 75 SemiBold" panose="00020600040101010101" charset="-122"/>
                <a:cs typeface="Inter" pitchFamily="34" charset="-120"/>
              </a:rPr>
              <a:t>系统</a:t>
            </a:r>
            <a:r>
              <a:rPr lang="en-US" sz="320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3200" dirty="0">
              <a:solidFill>
                <a:srgbClr val="F5F7FB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5F7FB"/>
                </a:solidFill>
                <a:latin typeface="Alibaba PuHuiTi 2.0 55 Regular" panose="00020600040101010101" charset="-122"/>
                <a:ea typeface="Alibaba PuHuiTi 2.0 55 Regular" panose="00020600040101010101" charset="-122"/>
                <a:cs typeface="Alibaba PuHuiTi 2.0 55 Regular" panose="00020600040101010101" charset="-122"/>
              </a:rPr>
              <a:t>—— </a:t>
            </a:r>
            <a:r>
              <a:rPr lang="zh-CN" altLang="en-US" dirty="0">
                <a:solidFill>
                  <a:srgbClr val="F5F7FB"/>
                </a:solidFill>
                <a:latin typeface="Alibaba PuHuiTi 2.0 55 Regular" panose="00020600040101010101" charset="-122"/>
                <a:ea typeface="Alibaba PuHuiTi 2.0 55 Regular" panose="00020600040101010101" charset="-122"/>
                <a:cs typeface="Alibaba PuHuiTi 2.0 55 Regular" panose="00020600040101010101" charset="-122"/>
              </a:rPr>
              <a:t>让关键碳排数据、能源数据、分摊规则与凭证形成可追溯证据链</a:t>
            </a:r>
            <a:r>
              <a:rPr lang="en-US" dirty="0">
                <a:solidFill>
                  <a:srgbClr val="F5F7FB"/>
                </a:solidFill>
                <a:latin typeface="Alibaba PuHuiTi 2.0 55 Regular" panose="00020600040101010101" charset="-122"/>
                <a:ea typeface="Alibaba PuHuiTi 2.0 55 Regular" panose="00020600040101010101" charset="-122"/>
                <a:cs typeface="Alibaba PuHuiTi 2.0 55 Regular" panose="00020600040101010101" charset="-122"/>
              </a:rPr>
              <a:t>。</a:t>
            </a:r>
            <a:endParaRPr lang="en-US" dirty="0">
              <a:latin typeface="Alibaba PuHuiTi 2.0 55 Regular" panose="00020600040101010101" charset="-122"/>
              <a:ea typeface="Alibaba PuHuiTi 2.0 55 Regular" panose="00020600040101010101" charset="-122"/>
              <a:cs typeface="Alibaba PuHuiTi 2.0 55 Regular" panose="00020600040101010101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4474845" y="4701540"/>
            <a:ext cx="3835400" cy="7848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zh-CN" altLang="en-US" sz="16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</a:rPr>
              <a:t>上海未来方舟智能科技有限公司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63210" y="5311775"/>
            <a:ext cx="67183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2026.5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行业痛点 → 我们的解法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品牌方合规口径碎片化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1089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 1/3/4/5 四类必报口径分散在清洁能源、清洁水、零废弃物、限用物质等多个项目里，BU 与代工厂各自一套 Excel，每次品牌方年度核查都要重新对齐。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310896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233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我们的解法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31089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一站对齐品牌方：</a:t>
            </a:r>
            <a:r>
              <a:rPr lang="zh-CN" altLang="en-US" sz="130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内置不同品牌方要求</a:t>
            </a:r>
            <a:r>
              <a:rPr lang="en-US" altLang="zh-CN" sz="130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r>
              <a:rPr lang="en-US" sz="130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一次采集，多口径映射，多品牌方模板复用</a:t>
            </a:r>
            <a:endParaRPr lang="en-US" sz="1300" dirty="0">
              <a:solidFill>
                <a:srgbClr val="F5F7FB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97680" y="128016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46304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1920240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PCF 反推链路断裂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31089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终端产品级</a:t>
            </a:r>
            <a:r>
              <a:rPr lang="en-US" sz="13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PCF 数字需要从整机倒推到电池、主控芯片、显示屏的 Tier-2 因子，BOM 与因子库版本错配导致重出报告</a:t>
            </a:r>
            <a:r>
              <a:rPr lang="zh-CN" altLang="en-US" sz="13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口径不一致</a:t>
            </a:r>
            <a:r>
              <a:rPr lang="en-US" sz="13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931920"/>
            <a:ext cx="310896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0233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我们的解法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4434840"/>
            <a:ext cx="31089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BOM × </a:t>
            </a:r>
            <a:r>
              <a:rPr lang="zh-CN" altLang="en-US" sz="130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套件</a:t>
            </a:r>
            <a:r>
              <a:rPr lang="en-US" sz="130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因子库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128016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46304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1920240"/>
            <a:ext cx="3108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年度填报反复返工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412480" y="2560320"/>
            <a:ext cx="31089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品牌方财年（FY）口径与企业自然年错位，财年关账前动手往往来不及通过 Limited Assurance。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412480" y="3931920"/>
            <a:ext cx="3108960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02336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我们的解法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4434840"/>
            <a:ext cx="31089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向导自动产出三大交付物：Output 1（公司层级）/ Output 2（产品层级）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八</a:t>
            </a:r>
            <a:r>
              <a:rPr lang="en-US" sz="28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大业务模组</a:t>
            </a:r>
            <a:endParaRPr lang="en-US" sz="2800" dirty="0"/>
          </a:p>
        </p:txBody>
      </p:sp>
      <p:grpSp>
        <p:nvGrpSpPr>
          <p:cNvPr id="40" name="组合 39"/>
          <p:cNvGrpSpPr/>
          <p:nvPr/>
        </p:nvGrpSpPr>
        <p:grpSpPr>
          <a:xfrm>
            <a:off x="330200" y="1272540"/>
            <a:ext cx="11391900" cy="4932680"/>
            <a:chOff x="330200" y="1272414"/>
            <a:chExt cx="10610143" cy="3346903"/>
          </a:xfrm>
        </p:grpSpPr>
        <p:sp>
          <p:nvSpPr>
            <p:cNvPr id="5" name="Shape 3"/>
            <p:cNvSpPr/>
            <p:nvPr/>
          </p:nvSpPr>
          <p:spPr>
            <a:xfrm>
              <a:off x="330200" y="1280160"/>
              <a:ext cx="2504368" cy="1605364"/>
            </a:xfrm>
            <a:prstGeom prst="roundRect">
              <a:avLst>
                <a:gd name="adj" fmla="val 6000"/>
              </a:avLst>
            </a:prstGeom>
            <a:solidFill>
              <a:srgbClr val="111827"/>
            </a:solidFill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522844" y="1440696"/>
              <a:ext cx="1284291" cy="321073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600" dirty="0">
                  <a:solidFill>
                    <a:srgbClr val="F9731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GHG</a:t>
              </a:r>
              <a:endParaRPr lang="en-US" sz="1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522844" y="1729662"/>
              <a:ext cx="2183295" cy="38528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5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碳核算 · 品牌方驾驶舱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22844" y="2088676"/>
              <a:ext cx="2183295" cy="64214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Output 1 公司层级 + Output 2 产品层级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双视图核算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GWP100 （ IPCC AR6 ）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因子 vintage 全程留痕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3027211" y="1280160"/>
              <a:ext cx="2504368" cy="1605364"/>
            </a:xfrm>
            <a:prstGeom prst="roundRect">
              <a:avLst>
                <a:gd name="adj" fmla="val 6000"/>
              </a:avLst>
            </a:prstGeom>
            <a:solidFill>
              <a:srgbClr val="111827"/>
            </a:solidFill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3219855" y="1440696"/>
              <a:ext cx="1284291" cy="321073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600" dirty="0">
                  <a:solidFill>
                    <a:srgbClr val="F9731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USC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219897" y="1729554"/>
              <a:ext cx="2235582" cy="38518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5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上游驾驶舱 · Cat 1/3/4/5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219264" y="2088676"/>
              <a:ext cx="2183295" cy="64214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品牌方spec</a:t>
              </a:r>
              <a:r>
                <a:rPr lang="zh-CN" alt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工作</a:t>
              </a: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区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物料因子映射 LCA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Tier-2 PCF 追溯 CRM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zh-CN" alt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高频数据自动更新，实质性变化自动提示。</a:t>
              </a:r>
              <a:endParaRPr lang="zh-CN" alt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5724222" y="1280160"/>
              <a:ext cx="2504368" cy="1605364"/>
            </a:xfrm>
            <a:prstGeom prst="roundRect">
              <a:avLst>
                <a:gd name="adj" fmla="val 6000"/>
              </a:avLst>
            </a:prstGeom>
            <a:solidFill>
              <a:srgbClr val="111827"/>
            </a:solidFill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5916866" y="1440696"/>
              <a:ext cx="1284291" cy="321073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600" dirty="0">
                  <a:solidFill>
                    <a:srgbClr val="F9731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PER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916866" y="1729662"/>
              <a:ext cx="2183295" cy="38528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 err="1">
                  <a:solidFill>
                    <a:srgbClr val="F5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产品环境报告</a:t>
              </a:r>
              <a:r>
                <a:rPr lang="zh-CN" altLang="en-US" sz="1600" b="1" dirty="0" err="1">
                  <a:solidFill>
                    <a:srgbClr val="F5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支持</a:t>
              </a:r>
              <a:endParaRPr lang="zh-CN" altLang="en-US" sz="1600" b="1" dirty="0" err="1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5916866" y="2088676"/>
              <a:ext cx="2183295" cy="64214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ISO 14040/14044/14067 </a:t>
              </a:r>
              <a:r>
                <a:rPr lang="zh-CN" alt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符合度</a:t>
              </a: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多配置 PCF 矩阵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品牌方清洁能源项目数据自动归集</a:t>
              </a:r>
              <a:endParaRPr lang="en-US" sz="1000" dirty="0"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330200" y="3013953"/>
              <a:ext cx="2504368" cy="1605364"/>
            </a:xfrm>
            <a:prstGeom prst="roundRect">
              <a:avLst>
                <a:gd name="adj" fmla="val 6000"/>
              </a:avLst>
            </a:prstGeom>
            <a:solidFill>
              <a:srgbClr val="111827"/>
            </a:solidFill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522844" y="3174489"/>
              <a:ext cx="1284291" cy="321073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600" dirty="0">
                  <a:solidFill>
                    <a:srgbClr val="F9731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SUB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22844" y="3463455"/>
              <a:ext cx="2183295" cy="38528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5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年度填报向导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22844" y="3856515"/>
              <a:ext cx="2183295" cy="64214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4 步线性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品牌方 FY 校验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自动产出 Output 1 / 2 + Limited Assurance</a:t>
              </a:r>
              <a:r>
                <a:rPr lang="zh-CN" alt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支持底稿</a:t>
              </a:r>
              <a:r>
                <a:rPr lang="en-US" sz="1200" dirty="0">
                  <a:solidFill>
                    <a:srgbClr val="9AA4B8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  <a:endParaRPr lang="en-US" sz="12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027211" y="3013953"/>
              <a:ext cx="2504368" cy="1605364"/>
            </a:xfrm>
            <a:prstGeom prst="roundRect">
              <a:avLst>
                <a:gd name="adj" fmla="val 6000"/>
              </a:avLst>
            </a:prstGeom>
            <a:solidFill>
              <a:srgbClr val="111827"/>
            </a:solidFill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3219855" y="3174489"/>
              <a:ext cx="1284291" cy="321073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600" dirty="0">
                  <a:solidFill>
                    <a:srgbClr val="F9731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EMS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3219855" y="3463455"/>
              <a:ext cx="2183295" cy="38528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5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能源管理</a:t>
              </a:r>
              <a:endParaRPr lang="en-US" sz="16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219855" y="3856515"/>
              <a:ext cx="2183295" cy="64214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171450" indent="-171450" algn="l">
                <a:buClrTx/>
                <a:buSzTx/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实时表计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 algn="l">
                <a:buClrTx/>
                <a:buSzTx/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分项计量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 algn="l">
                <a:buClrTx/>
                <a:buSzTx/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异常告警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 algn="l">
                <a:buClrTx/>
                <a:buSzTx/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介质平衡（电/气/水/汽/余热）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 algn="l">
                <a:buClrTx/>
                <a:buSzTx/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24h 多能源协同曲线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5724222" y="3013953"/>
              <a:ext cx="2504368" cy="1605364"/>
            </a:xfrm>
            <a:prstGeom prst="roundRect">
              <a:avLst>
                <a:gd name="adj" fmla="val 6000"/>
              </a:avLst>
            </a:prstGeom>
            <a:solidFill>
              <a:srgbClr val="111827"/>
            </a:solidFill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916866" y="3174489"/>
              <a:ext cx="1284291" cy="321073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600" dirty="0">
                  <a:solidFill>
                    <a:srgbClr val="F9731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</a:t>
              </a:r>
              <a:r>
                <a:rPr lang="en-US" sz="1200" b="1" kern="0" spc="600" dirty="0">
                  <a:solidFill>
                    <a:srgbClr val="F9731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OC</a:t>
              </a:r>
              <a:endParaRPr lang="en-US" sz="12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916866" y="3463455"/>
              <a:ext cx="2183295" cy="38528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5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履约与合规</a:t>
              </a:r>
              <a:endParaRPr lang="en-US" sz="16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5916866" y="3856515"/>
              <a:ext cx="2183295" cy="64214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171450" indent="-171450" algn="l">
                <a:lnSpc>
                  <a:spcPct val="120000"/>
                </a:lnSpc>
                <a:buClrTx/>
                <a:buSzTx/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五大</a:t>
              </a: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  <a:sym typeface="+mn-ea"/>
                </a:rPr>
                <a:t>供应商行为准则</a:t>
              </a: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章节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 algn="l">
                <a:lnSpc>
                  <a:spcPct val="120000"/>
                </a:lnSpc>
                <a:buClrTx/>
                <a:buSzTx/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履约日历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 algn="l">
                <a:lnSpc>
                  <a:spcPct val="120000"/>
                </a:lnSpc>
                <a:buClrTx/>
                <a:buSzTx/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缺口模拟与催办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8435975" y="1272414"/>
              <a:ext cx="2504368" cy="1605364"/>
            </a:xfrm>
            <a:prstGeom prst="roundRect">
              <a:avLst>
                <a:gd name="adj" fmla="val 6000"/>
              </a:avLst>
            </a:prstGeom>
            <a:solidFill>
              <a:srgbClr val="111827"/>
            </a:solidFill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8628619" y="1432950"/>
              <a:ext cx="1284291" cy="321073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600" dirty="0">
                  <a:solidFill>
                    <a:srgbClr val="F9731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AI</a:t>
              </a:r>
              <a:endParaRPr lang="en-US" sz="1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8628619" y="1721916"/>
              <a:ext cx="2183295" cy="38528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5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AI 寻优中枢</a:t>
              </a:r>
              <a:endParaRPr lang="en-US" sz="16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8628467" y="2088676"/>
              <a:ext cx="2183537" cy="559684"/>
            </a:xfrm>
            <a:prstGeom prst="rect">
              <a:avLst/>
            </a:prstGeom>
            <a:noFill/>
          </p:spPr>
          <p:txBody>
            <a:bodyPr wrap="square" numCol="2" rtlCol="0" anchor="ctr"/>
            <a:lstStyle/>
            <a:p>
              <a:pPr marL="171450" indent="-171450">
                <a:lnSpc>
                  <a:spcPct val="140000"/>
                </a:lnSpc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多能源调度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lnSpc>
                  <a:spcPct val="140000"/>
                </a:lnSpc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清洁能源建议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lnSpc>
                  <a:spcPct val="140000"/>
                </a:lnSpc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能效诊断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lnSpc>
                  <a:spcPct val="140000"/>
                </a:lnSpc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数字孪生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lnSpc>
                  <a:spcPct val="140000"/>
                </a:lnSpc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天气感知微调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>
                <a:lnSpc>
                  <a:spcPct val="140000"/>
                </a:lnSpc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碳智 Copilot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8435975" y="3013953"/>
              <a:ext cx="2504368" cy="1605364"/>
            </a:xfrm>
            <a:prstGeom prst="roundRect">
              <a:avLst>
                <a:gd name="adj" fmla="val 6000"/>
              </a:avLst>
            </a:prstGeom>
            <a:solidFill>
              <a:srgbClr val="111827"/>
            </a:solidFill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34" name="Text 32"/>
            <p:cNvSpPr/>
            <p:nvPr/>
          </p:nvSpPr>
          <p:spPr>
            <a:xfrm>
              <a:off x="8628619" y="3174489"/>
              <a:ext cx="1284291" cy="321073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kern="0" spc="600" dirty="0">
                  <a:solidFill>
                    <a:srgbClr val="F9731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GREEN</a:t>
              </a:r>
              <a:endParaRPr lang="en-US" sz="12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8628619" y="3463455"/>
              <a:ext cx="2183295" cy="385287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5F7F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绿色工厂评价</a:t>
              </a:r>
              <a:endParaRPr lang="en-US" sz="16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8628619" y="3856515"/>
              <a:ext cx="2183295" cy="642146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171450" indent="-171450" algn="l">
                <a:buClrTx/>
                <a:buSzTx/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GB/T 36132-2025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 algn="l">
                <a:buClrTx/>
                <a:buSzTx/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14 项指标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 algn="l">
                <a:buClrTx/>
                <a:buSzTx/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六维雷达 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  <a:p>
              <a:pPr marL="171450" indent="-171450" algn="l">
                <a:buClrTx/>
                <a:buSzTx/>
                <a:buFont typeface="Arial" panose="020B0604020202090204" pitchFamily="34" charset="0"/>
                <a:buChar char="•"/>
              </a:pPr>
              <a:r>
                <a:rPr lang="en-US" sz="1000" dirty="0">
                  <a:solidFill>
                    <a:srgbClr val="9AA4B8"/>
                  </a:solidFill>
                  <a:latin typeface="Alibaba PuHuiTi 2.0 35 Thin" panose="00020600040101010101" charset="-122"/>
                  <a:ea typeface="Alibaba PuHuiTi 2.0 35 Thin" panose="00020600040101010101" charset="-122"/>
                  <a:cs typeface="Alibaba PuHuiTi 2.0 35 Thin" panose="00020600040101010101" charset="-122"/>
                </a:rPr>
                <a:t> 8 季度滚动预测</a:t>
              </a:r>
              <a:endParaRPr lang="en-US" sz="1000" dirty="0">
                <a:solidFill>
                  <a:srgbClr val="9AA4B8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endParaRPr>
            </a:p>
          </p:txBody>
        </p:sp>
      </p:grpSp>
      <p:sp>
        <p:nvSpPr>
          <p:cNvPr id="39" name="Text 1"/>
          <p:cNvSpPr/>
          <p:nvPr/>
        </p:nvSpPr>
        <p:spPr>
          <a:xfrm>
            <a:off x="466327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ArkSus® AI+ GEMP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ArkSus® AI+ GEMP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总览驾驶舱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Cockpit · 3D 工厂数字孪生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6949440" cy="4297680"/>
          </a:xfrm>
          <a:prstGeom prst="roundRect">
            <a:avLst>
              <a:gd name="adj" fmla="val 255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2057400"/>
            <a:ext cx="676656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965960"/>
            <a:ext cx="4114800" cy="429768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2103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2560320"/>
            <a:ext cx="384048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3D 工厂全景：设备级状态点位 ，实时负荷曲线一屏直达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负荷统计</a:t>
            </a:r>
            <a:r>
              <a:rPr lang="en-US" altLang="zh-CN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：</a:t>
            </a: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今日能耗（tce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），本月碳排，绿电渗透率，30 天累计能耗 </a:t>
            </a:r>
            <a:endParaRPr lang="en-US" sz="1200" dirty="0">
              <a:solidFill>
                <a:srgbClr val="F5F7FB"/>
              </a:solidFill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solidFill>
                <a:srgbClr val="F5F7FB"/>
              </a:solidFill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碳资产：节能收益，当日碳成本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支持品牌方专属视角切换：自动过滤站内仅与该客户相关的口径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ArkSus® AI+ GEMP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品牌方上游碳核算驾驶舱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Carbon Cockpit · 双视图核算引擎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6949440" cy="4297680"/>
          </a:xfrm>
          <a:prstGeom prst="roundRect">
            <a:avLst>
              <a:gd name="adj" fmla="val 255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8" name="Image 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60182" y="2057400"/>
            <a:ext cx="6543475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965960"/>
            <a:ext cx="4114800" cy="429768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2103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2560320"/>
            <a:ext cx="384048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Output 1_公司层级：Scope 1/2/3 三栏 + 工厂拆分 + 品牌方 FY 同比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Output 2_产品层级：主控芯片 + 显示模组 + 中框 + 摄像头 + 电池电芯 + 多 SKU PCF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GWP100（IPCC AR6）: 子计量法 + 产量比例法 + 销售额比例法 + 三档可切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ArkSus® AI+ GEMP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3 价值链管理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 1 / 3 / 4 / 5 必报四类 · </a:t>
            </a:r>
            <a:r>
              <a:rPr lang="en-US" sz="1400" dirty="0" err="1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实质性盯防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6949440" cy="4297680"/>
          </a:xfrm>
          <a:prstGeom prst="roundRect">
            <a:avLst>
              <a:gd name="adj" fmla="val 255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2057400"/>
            <a:ext cx="676656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965960"/>
            <a:ext cx="4114800" cy="429768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2103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2560320"/>
            <a:ext cx="384048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支持 </a:t>
            </a:r>
            <a:r>
              <a:rPr lang="en-US" alt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GHG Protocol </a:t>
            </a:r>
            <a:r>
              <a:rPr lang="zh-CN" alt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全部</a:t>
            </a:r>
            <a:r>
              <a:rPr lang="en-US" alt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15 </a:t>
            </a:r>
            <a:r>
              <a:rPr lang="zh-CN" alt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类的框架映射</a:t>
            </a: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，</a:t>
            </a:r>
            <a:r>
              <a:rPr lang="zh-CN" alt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重点内置品牌方上游必报 </a:t>
            </a:r>
            <a:r>
              <a:rPr lang="en-US" alt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Cat 1/3/4/5，</a:t>
            </a: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红线</a:t>
            </a:r>
            <a:r>
              <a:rPr lang="zh-CN" alt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是</a:t>
            </a: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在实质性</a:t>
            </a:r>
            <a:r>
              <a:rPr lang="zh-CN" alt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排放的</a:t>
            </a: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截断处自动高亮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Cat 1 双工作区：物料因子映射 LCA + Tier-2 PCF 追溯 CRM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Cat 3 WTT/TTW 拆分，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外购电力按 Scope 2 地点法 / 市场法核算</a:t>
            </a:r>
            <a:endParaRPr lang="en-US" sz="1200" dirty="0">
              <a:solidFill>
                <a:srgbClr val="F5F7FB"/>
              </a:solidFill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solidFill>
                <a:srgbClr val="F5F7FB"/>
              </a:solidFill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Cat 4 GLEC 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v3 距离-质量法 + 起讫点地图校验，Cat 5 废水 / 固废承运商白名单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ArkSus® AI+ GEMP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年度填报向导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Submission Wizard · 品牌方 FY 对齐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6949440" cy="4297680"/>
          </a:xfrm>
          <a:prstGeom prst="roundRect">
            <a:avLst>
              <a:gd name="adj" fmla="val 255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2057400"/>
            <a:ext cx="676656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965960"/>
            <a:ext cx="4114800" cy="429768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2103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2560320"/>
            <a:ext cx="384048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Step 1 锁定品牌方 FY 报告周期：自动校验 12 个月连续性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Step 2 选填报路径：产品级 BOM / 工厂级月度账单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Step 3 BOM 或月账录入 ：子计量 / 产量 / 销售额 三档分摊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Step 4 预检通过后一键产出 Output 1 / Output 2 / Limited Assurance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底稿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 三大交付物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ArkSus® AI+ GEMP</a:t>
            </a:r>
            <a:endParaRPr lang="en-US" sz="900" dirty="0"/>
          </a:p>
        </p:txBody>
      </p:sp>
      <p:sp>
        <p:nvSpPr>
          <p:cNvPr id="14" name="Text 2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05</a:t>
            </a:r>
            <a:endParaRPr lang="en-US" sz="1100" dirty="0"/>
          </a:p>
        </p:txBody>
      </p:sp>
      <p:sp>
        <p:nvSpPr>
          <p:cNvPr id="15" name="Text 3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产品环境报告</a:t>
            </a:r>
            <a:r>
              <a:rPr lang="zh-CN" altLang="en-US" sz="3200" b="1" dirty="0" err="1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支持</a:t>
            </a:r>
            <a:endParaRPr lang="zh-CN" altLang="en-US" sz="3200" b="1" dirty="0" err="1">
              <a:solidFill>
                <a:srgbClr val="F5F7FB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6" name="Text 4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Environmental Report </a:t>
            </a:r>
            <a:r>
              <a:rPr lang="en-US" sz="1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</a:t>
            </a:r>
            <a:endParaRPr lang="en-US" sz="1400" dirty="0">
              <a:solidFill>
                <a:srgbClr val="38BDF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457200" y="1965960"/>
            <a:ext cx="6949440" cy="4297680"/>
          </a:xfrm>
          <a:prstGeom prst="roundRect">
            <a:avLst>
              <a:gd name="adj" fmla="val 255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2057400"/>
            <a:ext cx="6766560" cy="4114800"/>
          </a:xfrm>
          <a:prstGeom prst="rect">
            <a:avLst/>
          </a:prstGeom>
        </p:spPr>
      </p:pic>
      <p:sp>
        <p:nvSpPr>
          <p:cNvPr id="19" name="Shape 6"/>
          <p:cNvSpPr/>
          <p:nvPr/>
        </p:nvSpPr>
        <p:spPr>
          <a:xfrm>
            <a:off x="7589520" y="1965960"/>
            <a:ext cx="4114800" cy="429768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7"/>
          <p:cNvSpPr/>
          <p:nvPr/>
        </p:nvSpPr>
        <p:spPr>
          <a:xfrm>
            <a:off x="7772400" y="2103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7772400" y="2560320"/>
            <a:ext cx="384048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支持生成产品环境报告编制所需的底稿材料，包含封面信息、</a:t>
            </a:r>
            <a:r>
              <a:rPr lang="en-US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PCF 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矩阵、计算说明三段式结构，可导出 </a:t>
            </a:r>
            <a:r>
              <a:rPr lang="en-US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PDF/Word 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形式的审核底稿。</a:t>
            </a:r>
            <a:endParaRPr lang="zh-CN" altLang="en-US" sz="1200" dirty="0">
              <a:solidFill>
                <a:srgbClr val="F5F7FB"/>
              </a:solidFill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zh-CN" altLang="en-US" sz="1200" dirty="0">
              <a:solidFill>
                <a:srgbClr val="F5F7FB"/>
              </a:solidFill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底稿中的标准说明、计算口径、方法学版本、因子版本、</a:t>
            </a:r>
            <a:r>
              <a:rPr lang="en-US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GWP 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口径、清洁能源凭证 </a:t>
            </a:r>
            <a:r>
              <a:rPr lang="en-US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vintage 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与数据快照可锁定留痕，确保后续提交品牌方或第三方机构审核时具备一致性、可追溯性和可审计性。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ArkSus® AI+ GEMP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品牌方合规进度大屏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Cockpit · 行为准则五大章节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6949440" cy="4297680"/>
          </a:xfrm>
          <a:prstGeom prst="roundRect">
            <a:avLst>
              <a:gd name="adj" fmla="val 255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2057400"/>
            <a:ext cx="676656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965960"/>
            <a:ext cx="4114800" cy="429768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2103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2560320"/>
            <a:ext cx="384048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按 </a:t>
            </a: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劳工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 / </a:t>
            </a: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健康安全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 / </a:t>
            </a: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环境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 / </a:t>
            </a: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管理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 / </a:t>
            </a: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道德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 分类盯防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indent="0">
              <a:buFont typeface="Arial" panose="020B0604020202090204" pitchFamily="34" charset="0"/>
              <a:buNone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支持跟踪品牌方清洁能源、清洁水、零废弃物</a:t>
            </a:r>
            <a:r>
              <a:rPr lang="en-US" altLang="zh-CN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、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  <a:sym typeface="+mn-ea"/>
              </a:rPr>
              <a:t>产品环境报告等 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合规目标资料准备进度/履约进度</a:t>
            </a:r>
            <a:endParaRPr lang="zh-CN" altLang="en-US" sz="1200" dirty="0">
              <a:solidFill>
                <a:srgbClr val="F5F7FB"/>
              </a:solidFill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indent="0">
              <a:buFont typeface="Arial" panose="020B0604020202090204" pitchFamily="34" charset="0"/>
              <a:buNone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合规达成度评分</a:t>
            </a:r>
            <a:r>
              <a:rPr lang="en-US" altLang="zh-CN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/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100 分制合规综合分实时聚合，达标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与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差距分布一目了然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每项指标可下钻到对应工厂 / 负责人 / 凭证编号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2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ArkSus® AI+ GEMP</a:t>
            </a:r>
            <a:endParaRPr lang="en-US" sz="900" dirty="0"/>
          </a:p>
        </p:txBody>
      </p:sp>
      <p:sp>
        <p:nvSpPr>
          <p:cNvPr id="13" name="Text 2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07</a:t>
            </a:r>
            <a:endParaRPr lang="en-US" sz="1100" dirty="0"/>
          </a:p>
        </p:txBody>
      </p:sp>
      <p:sp>
        <p:nvSpPr>
          <p:cNvPr id="14" name="Text 3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Assurance </a:t>
            </a:r>
            <a:r>
              <a:rPr lang="zh-CN" altLang="en-US" sz="32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有限保证</a:t>
            </a:r>
            <a:r>
              <a:rPr lang="en-US" sz="32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声明</a:t>
            </a:r>
            <a:endParaRPr lang="en-US" sz="3200" dirty="0"/>
          </a:p>
        </p:txBody>
      </p:sp>
      <p:sp>
        <p:nvSpPr>
          <p:cNvPr id="15" name="Text 4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ISAE 3410 · SCS / TÜV / BV 第三方核查</a:t>
            </a:r>
            <a:endParaRPr lang="en-US" sz="1400" dirty="0"/>
          </a:p>
        </p:txBody>
      </p:sp>
      <p:sp>
        <p:nvSpPr>
          <p:cNvPr id="16" name="Shape 5"/>
          <p:cNvSpPr/>
          <p:nvPr/>
        </p:nvSpPr>
        <p:spPr>
          <a:xfrm>
            <a:off x="457200" y="1965960"/>
            <a:ext cx="6949440" cy="4297680"/>
          </a:xfrm>
          <a:prstGeom prst="roundRect">
            <a:avLst>
              <a:gd name="adj" fmla="val 255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2057400"/>
            <a:ext cx="6766560" cy="4114800"/>
          </a:xfrm>
          <a:prstGeom prst="rect">
            <a:avLst/>
          </a:prstGeom>
        </p:spPr>
      </p:pic>
      <p:sp>
        <p:nvSpPr>
          <p:cNvPr id="18" name="Shape 6"/>
          <p:cNvSpPr/>
          <p:nvPr/>
        </p:nvSpPr>
        <p:spPr>
          <a:xfrm>
            <a:off x="7589520" y="1965960"/>
            <a:ext cx="4114800" cy="429768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7"/>
          <p:cNvSpPr/>
          <p:nvPr/>
        </p:nvSpPr>
        <p:spPr>
          <a:xfrm>
            <a:off x="7772400" y="2103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20" name="Text 8"/>
          <p:cNvSpPr/>
          <p:nvPr/>
        </p:nvSpPr>
        <p:spPr>
          <a:xfrm>
            <a:off x="7772400" y="2560320"/>
            <a:ext cx="384048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历年声明书库自动归档，按品牌方财年交叉引用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总分摊变动，</a:t>
            </a:r>
            <a:r>
              <a:rPr lang="zh-CN" alt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可记录</a:t>
            </a: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原因（产能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 / 因子 / 绿电 / 工艺 / 范围）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变动说明直接写入</a:t>
            </a:r>
            <a:r>
              <a:rPr lang="zh-CN" alt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核查底稿/变动说明草稿</a:t>
            </a: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，</a:t>
            </a:r>
            <a:r>
              <a:rPr lang="zh-CN" alt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减少重复录入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 err="1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距下次核查倒计时，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按标准条款建立核查准备清单/口径映射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ArkSus® AI+ GEMP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绿色工厂评价</a:t>
            </a:r>
            <a:r>
              <a:rPr lang="zh-CN" altLang="en-US" sz="32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看板</a:t>
            </a:r>
            <a:endParaRPr lang="zh-CN" altLang="en-US" sz="3200" b="1" dirty="0">
              <a:solidFill>
                <a:srgbClr val="F5F7FB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GB/T 36132-2025 · 14 项指标 · 五星评级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6949440" cy="4297680"/>
          </a:xfrm>
          <a:prstGeom prst="roundRect">
            <a:avLst>
              <a:gd name="adj" fmla="val 255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2057400"/>
            <a:ext cx="676656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965960"/>
            <a:ext cx="4114800" cy="429768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2103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2560320"/>
            <a:ext cx="384048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六维能力雷达：基础设施 / 管理体系 / 能源资源 / 产品 / 环境排放 / 绩效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评分历程：8 季度滚动 + 五星 / 四星 / 三星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模拟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基准线 + 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改善趋势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预测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关键量化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指标可下钻到对应碳核算 / 能源数据来源，确保审计可追溯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导出 Excel（评分明细 + 改善工单 + 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评分规则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）/ PDF（含图表快照）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ArkSus® AI+ GEMP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供应商门户 · Scope 3 采集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Portal · OCR 自动解析 · </a:t>
            </a:r>
            <a:r>
              <a:rPr lang="zh-CN" altLang="en-US" sz="1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权限隔离</a:t>
            </a:r>
            <a:r>
              <a:rPr lang="en-US" sz="14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校验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6949440" cy="4297680"/>
          </a:xfrm>
          <a:prstGeom prst="roundRect">
            <a:avLst>
              <a:gd name="adj" fmla="val 255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2057400"/>
            <a:ext cx="676656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589520" y="1965960"/>
            <a:ext cx="4114800" cy="429768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210312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核心能力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0" y="2560320"/>
            <a:ext cx="3840480" cy="3657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 供应商上传产品碳足迹声明/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底稿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（PCF），系统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结构化</a:t>
            </a:r>
            <a:r>
              <a:rPr lang="en-US" altLang="zh-CN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 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OCR 解析，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人工复核后归档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 审核状态机：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待提交 </a:t>
            </a:r>
            <a:r>
              <a:rPr lang="en-US" altLang="zh-CN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/ 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已提交</a:t>
            </a:r>
            <a:r>
              <a:rPr lang="en-US" altLang="zh-CN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 / 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审核中 / 已提交 / 已通过 / 已驳回 ·隔离品牌方数据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 Tier-2 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供应商邀请与数据采集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 + Tier-3 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逐渐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延伸</a:t>
            </a:r>
            <a:r>
              <a:rPr lang="zh-CN" alt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采集</a:t>
            </a: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：钢铁、铝、PCB、电池、物流多业态覆盖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srgbClr val="F5F7FB"/>
                </a:solidFill>
                <a:latin typeface="Alibaba PuHuiTi 2.0 35 Thin" panose="00020600040101010101" charset="-122"/>
                <a:ea typeface="Alibaba PuHuiTi 2.0 35 Thin" panose="00020600040101010101" charset="-122"/>
                <a:cs typeface="Alibaba PuHuiTi 2.0 35 Thin" panose="00020600040101010101" charset="-122"/>
              </a:rPr>
              <a:t> 一键发送声明邀请，跨企业碳数据请求闭环</a:t>
            </a:r>
            <a:endParaRPr lang="en-US" sz="1200" dirty="0">
              <a:latin typeface="Alibaba PuHuiTi 2.0 35 Thin" panose="00020600040101010101" charset="-122"/>
              <a:ea typeface="Alibaba PuHuiTi 2.0 35 Thin" panose="00020600040101010101" charset="-122"/>
              <a:cs typeface="Alibaba PuHuiTi 2.0 35 Thin" panose="00020600040101010101" charset="-122"/>
            </a:endParaRPr>
          </a:p>
        </p:txBody>
      </p:sp>
      <p:pic>
        <p:nvPicPr>
          <p:cNvPr id="12" name="Image 0" descr="/Users/yymm/Library/Containers/com.kingsoft.wpsoffice.mac/Data/tmp/photoeditapp/20260523104920/temp.pngtem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2211548"/>
            <a:ext cx="6766560" cy="38061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ArkSus® AI+ GEMP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寻优六大能力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566160" cy="2423160"/>
          </a:xfrm>
          <a:prstGeom prst="roundRect">
            <a:avLst>
              <a:gd name="adj" fmla="val 566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优化中枢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六大能力一屏暴露 · 模块即插即用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108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今日</a:t>
            </a: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预计节省</a:t>
            </a: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预计减排</a:t>
            </a: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生效策略</a:t>
            </a: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覆盖空间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AI 多能源调度 / 清洁能源补充 / AI 能效诊断 / 数字孪生 / 天气感知微调 / 碳智 Copilot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数据驱动，与现有模块联动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「一键应用 AI 策略」，</a:t>
            </a:r>
            <a:r>
              <a:rPr lang="zh-CN" alt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经人工审批后联动 </a:t>
            </a:r>
            <a:r>
              <a:rPr lang="en-US" alt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EMS </a:t>
            </a:r>
            <a:r>
              <a:rPr lang="zh-CN" alt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566160" cy="2423160"/>
          </a:xfrm>
          <a:prstGeom prst="roundRect">
            <a:avLst>
              <a:gd name="adj" fmla="val 566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46304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82880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多能源调度策略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286000"/>
            <a:ext cx="305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峰谷电价 × 光伏预测 × 储能 SoC × 工序排程 · 24h 自动寻优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697480"/>
            <a:ext cx="3108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24h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多能源协同曲线：电价（峰谷尖</a:t>
            </a: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）/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光伏出力</a:t>
            </a: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厂区负荷</a:t>
            </a: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储能</a:t>
            </a: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SoC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同图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AI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推荐调度策略：场景切换（均衡</a:t>
            </a: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经济</a:t>
            </a: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碳 /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能效</a:t>
            </a: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）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天气感知微调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280160"/>
            <a:ext cx="3566160" cy="2423160"/>
          </a:xfrm>
          <a:prstGeom prst="roundRect">
            <a:avLst>
              <a:gd name="adj" fmla="val 566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146304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182880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数字孪生 · 设备级 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228600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react-three-fiber 实时渲染 · 热度映射方块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2697480"/>
            <a:ext cx="3108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设备级 3D 热点：设备状态点位 + 告警 / 预警热点列表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概览 / 热度 / 能源 / 告警 四种视图模式切换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与 AI 能效诊断联动 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3566160" cy="2423160"/>
          </a:xfrm>
          <a:prstGeom prst="roundRect">
            <a:avLst>
              <a:gd name="adj" fmla="val 566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690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能效诊断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48920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Z-score / EWMA 异常归因 · 节能机会清单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303520"/>
            <a:ext cx="3108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实时识别</a:t>
            </a: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节能机会</a:t>
            </a: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3886200"/>
            <a:ext cx="3566160" cy="2423160"/>
          </a:xfrm>
          <a:prstGeom prst="roundRect">
            <a:avLst>
              <a:gd name="adj" fmla="val 566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0690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443484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天气感知微调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外温 / 辐照 / 风速 实时驱动 · 四维微调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0" y="5303520"/>
            <a:ext cx="3108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光伏 / 风电出力比逐工厂、逐产线显示，一键应用到各空间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r>
              <a:rPr lang="zh-CN" alt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天气数据用于预测光伏出力、冷站负荷与 </a:t>
            </a:r>
            <a:r>
              <a:rPr lang="en-US" alt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HVAC </a:t>
            </a:r>
            <a:r>
              <a:rPr lang="zh-CN" alt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用能；排放量随活动数据变化动态更新</a:t>
            </a: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，与碳驾驶舱联动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雾霾 / 多云 / 小雨 等天气场景下的 PV 出力修正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138160" y="3886200"/>
            <a:ext cx="3566160" cy="2423160"/>
          </a:xfrm>
          <a:prstGeom prst="roundRect">
            <a:avLst>
              <a:gd name="adj" fmla="val 5660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406908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434840"/>
            <a:ext cx="3108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碳智 Copilot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412480" y="48920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先进大模型</a:t>
            </a:r>
            <a:r>
              <a:rPr lang="en-US" sz="100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自然语言提问 · 一键起草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0" y="5303520"/>
            <a:ext cx="3108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全局浮窗，任意页面唤起，上下文自动透传 </a:t>
            </a:r>
            <a:endParaRPr lang="en-US" sz="900" dirty="0">
              <a:solidFill>
                <a:srgbClr val="9AA4B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r>
              <a:rPr lang="en-US" sz="900" dirty="0" err="1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数据沿用品牌方专属视角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可对接外部知识库（品牌方行为准则 / ISO 标准）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3" name="Text 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ArkSus® AI+ GEMP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标准对齐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品牌方 Spec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00584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供应商行为准则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00584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供应商清洁能源项目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98280" y="100584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100584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14040 / 14044 / 14067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6459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4592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14064-1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16459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64592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GHG Protocol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6459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64592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ISAE 3410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98280" y="164592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164592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CBAM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8600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SBTi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37560" y="22860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28600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TCFD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22860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28600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98280" y="228600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228600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 Climate Rule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92608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GB/T 32150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337560" y="292608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292608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GB/T 36132-2025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0" y="292608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92608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50001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098280" y="2926080"/>
            <a:ext cx="269748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98280" y="2926080"/>
            <a:ext cx="2697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 2050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2743200"/>
            <a:ext cx="10972800" cy="10972800"/>
          </a:xfrm>
          <a:prstGeom prst="ellipse">
            <a:avLst/>
          </a:prstGeom>
          <a:solidFill>
            <a:srgbClr val="F97316">
              <a:alpha val="10000"/>
            </a:srgbClr>
          </a:solidFill>
          <a:ln w="12700">
            <a:solidFill>
              <a:srgbClr val="0B0F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0"/>
            <a:ext cx="10972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让能源与碳，成为可经营的资产。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0972800" cy="9613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ArkSus® AI+ </a:t>
            </a:r>
            <a:r>
              <a:rPr lang="en-US" sz="20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Energy Management Program</a:t>
            </a:r>
            <a:endParaRPr lang="en-US" sz="2000" dirty="0">
              <a:solidFill>
                <a:srgbClr val="9AA4B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endParaRPr lang="en-US" sz="2000" dirty="0">
              <a:solidFill>
                <a:srgbClr val="9AA4B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上海未来方舟智能科技有限</a:t>
            </a:r>
            <a:r>
              <a:rPr lang="zh-CN" altLang="en-US" sz="2000" dirty="0">
                <a:solidFill>
                  <a:srgbClr val="9AA4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公司</a:t>
            </a:r>
            <a:endParaRPr lang="zh-CN" altLang="en-US" sz="2000" dirty="0">
              <a:solidFill>
                <a:srgbClr val="9AA4B8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3923</Words>
  <Application>WPS Presentation</Application>
  <PresentationFormat>宽屏</PresentationFormat>
  <Paragraphs>380</Paragraphs>
  <Slides>15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8" baseType="lpstr">
      <vt:lpstr>Arial</vt:lpstr>
      <vt:lpstr>SimSun</vt:lpstr>
      <vt:lpstr>Wingdings</vt:lpstr>
      <vt:lpstr>Inter</vt:lpstr>
      <vt:lpstr>苹方-简</vt:lpstr>
      <vt:lpstr>Inter</vt:lpstr>
      <vt:lpstr>Inter</vt:lpstr>
      <vt:lpstr>Alibaba PuHuiTi 2.0 75 SemiBold</vt:lpstr>
      <vt:lpstr>Alibaba PuHuiTi 2.0 55 Regular</vt:lpstr>
      <vt:lpstr>Alibaba PuHuiTi 2.0 35 Thin</vt:lpstr>
      <vt:lpstr>Thonburi</vt:lpstr>
      <vt:lpstr>SimSun</vt:lpstr>
      <vt:lpstr>汉仪书宋二KW</vt:lpstr>
      <vt:lpstr>Calibri</vt:lpstr>
      <vt:lpstr>Helvetica Neue</vt:lpstr>
      <vt:lpstr>Microsoft YaHei</vt:lpstr>
      <vt:lpstr>汉仪旗黑</vt:lpstr>
      <vt:lpstr>等线</vt:lpstr>
      <vt:lpstr>汉仪中等线KW</vt:lpstr>
      <vt:lpstr>Arial Unicode MS</vt:lpstr>
      <vt:lpstr>MS PGothic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lukkawoo</cp:lastModifiedBy>
  <cp:revision>24</cp:revision>
  <dcterms:created xsi:type="dcterms:W3CDTF">2026-06-03T09:35:02Z</dcterms:created>
  <dcterms:modified xsi:type="dcterms:W3CDTF">2026-06-03T09:35:02Z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1033-12.1.25897.25897</vt:lpwstr>
  </property>
  <property fmtid="{D5CDD505-2E9C-101B-9397-08002B2CF9AE}" pid="3" name="ICV">
    <vt:lpwstr>0C27A8E1FFEC7A694F17116A6F77A92D_43</vt:lpwstr>
  </property>
</Properties>
</file>