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20" Type="http://schemas.openxmlformats.org/officeDocument/2006/relationships/viewProps" Target="viewProps.xml"/><Relationship Id="rId2" Type="http://schemas.openxmlformats.org/officeDocument/2006/relationships/theme" Target="theme/theme1.xml"/><Relationship Id="rId19" Type="http://schemas.openxmlformats.org/officeDocument/2006/relationships/presProps" Target="presProps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1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9" name="Picture 8" descr="image2.png"/>
          <p:cNvPicPr>
            <a:picLocks noChangeAspect="1"/>
          </p:cNvPicPr>
          <p:nvPr/>
        </p:nvPicPr>
        <p:blipFill>
          <a:blip r:embed="rId1"/>
          <a:srcRect l="16109" t="29357" r="3358" b="5965"/>
          <a:stretch>
            <a:fillRect/>
          </a:stretch>
        </p:blipFill>
        <p:spPr>
          <a:xfrm>
            <a:off x="5242560" y="476250"/>
            <a:ext cx="6726555" cy="2763520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0" y="0"/>
            <a:ext cx="108000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76000" y="3240000"/>
            <a:ext cx="11468952" cy="1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92000" y="3384000"/>
            <a:ext cx="7200000" cy="151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5200"/>
              </a:lnSpc>
            </a:pPr>
            <a:r>
              <a:rPr sz="44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可持续运营管理平台</a:t>
            </a:r>
            <a:endParaRPr sz="4400" b="1">
              <a:gradFill rotWithShape="1">
                <a:gsLst>
                  <a:gs pos="0">
                    <a:srgbClr val="3EC99E">
                      <a:alpha val="100000"/>
                    </a:srgbClr>
                  </a:gs>
                  <a:gs pos="48000">
                    <a:srgbClr val="5CC13C">
                      <a:alpha val="100000"/>
                    </a:srgbClr>
                  </a:gs>
                  <a:gs pos="100000">
                    <a:srgbClr val="C8E13C">
                      <a:alpha val="100000"/>
                    </a:srgbClr>
                  </a:gs>
                </a:gsLst>
                <a:lin ang="0"/>
              </a:gra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92000" y="5004000"/>
            <a:ext cx="720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E1216"/>
                </a:solidFill>
                <a:latin typeface="Inter"/>
                <a:ea typeface="PingFang SC"/>
              </a:rPr>
              <a:t>ArkSus® AI+ GEMP  ·  面向品牌方上游供应商的合规一体系统</a:t>
            </a:r>
            <a:endParaRPr sz="1500" b="0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92000" y="558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支持关键碳排数据、能源数据、分摊规则与凭证形成可追溯证据链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92000" y="604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8A9199"/>
                </a:solidFill>
                <a:latin typeface="Inter"/>
                <a:ea typeface="PingFang SC"/>
              </a:rPr>
              <a:t>上海未来方舟智能科技有限公司  |  2026.6</a:t>
            </a:r>
            <a:endParaRPr sz="11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8" name="Picture 7" descr="logo-stacked-pri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8000" y="504000"/>
            <a:ext cx="867497" cy="864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为什么现在需要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三大不可逆趋势，正在重塑供应链合规边界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Scope 3 正在从"自愿披露"转向"必审义务"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6000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6000" y="1476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1764000"/>
            <a:ext cx="72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3EC99E"/>
                </a:solidFill>
                <a:latin typeface="Inter"/>
                <a:ea typeface="PingFang SC"/>
              </a:rPr>
              <a:t>01</a:t>
            </a:r>
            <a:endParaRPr sz="22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000" y="2268000"/>
            <a:ext cx="307898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1216"/>
                </a:solidFill>
                <a:latin typeface="Inter"/>
                <a:ea typeface="PingFang SC"/>
              </a:rPr>
              <a:t>合规压力</a:t>
            </a:r>
            <a:endParaRPr sz="15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36000" y="2772000"/>
            <a:ext cx="3078984" cy="34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CBAM、SEC 气候披露规则、SBTi、CDP 等框架持续升级，Cat 1 / 3 / 4 / 5 已成为头部品牌方对上游供应商的必报项，口径不统一带来年度核查反复对齐的成本。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4984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4984" y="1476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4984" y="1764000"/>
            <a:ext cx="72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5CC13C"/>
                </a:solidFill>
                <a:latin typeface="Inter"/>
                <a:ea typeface="PingFang SC"/>
              </a:rPr>
              <a:t>02</a:t>
            </a:r>
            <a:endParaRPr sz="22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54984" y="2268000"/>
            <a:ext cx="307898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1216"/>
                </a:solidFill>
                <a:latin typeface="Inter"/>
                <a:ea typeface="PingFang SC"/>
              </a:rPr>
              <a:t>审计压力</a:t>
            </a:r>
            <a:endParaRPr sz="15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4984" y="2772000"/>
            <a:ext cx="3078984" cy="34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Limited Assurance（ISAE 3410）要求证据链可追溯。依赖 Excel 与碎片化凭证的填报方式，在第三方核查时往往难以提供完整的底稿支撑。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93968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3968" y="1476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73968" y="1764000"/>
            <a:ext cx="7200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C8E13C"/>
                </a:solidFill>
                <a:latin typeface="Inter"/>
                <a:ea typeface="PingFang SC"/>
              </a:rPr>
              <a:t>03</a:t>
            </a:r>
            <a:endParaRPr sz="2200" b="1">
              <a:solidFill>
                <a:srgbClr val="C8E13C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73968" y="2268000"/>
            <a:ext cx="3078984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E1216"/>
                </a:solidFill>
                <a:latin typeface="Inter"/>
                <a:ea typeface="PingFang SC"/>
              </a:rPr>
              <a:t>产品 PCF 压力</a:t>
            </a:r>
            <a:endParaRPr sz="15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73968" y="2772000"/>
            <a:ext cx="3078984" cy="340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终端产品级 PCF 需从整机倒推至 Tier-2 芯片、电池、显示屏的排放因子；BOM 与因子库版本不同步，导致多次提交口径不一致，重出报告成本高。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56000" y="1008000"/>
            <a:ext cx="10800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600" b="1">
                <a:solidFill>
                  <a:srgbClr val="3EC99E"/>
                </a:solidFill>
                <a:latin typeface="Inter"/>
                <a:ea typeface="PingFang SC"/>
              </a:rPr>
              <a:t>“</a:t>
            </a:r>
            <a:endParaRPr sz="56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828000" y="1944000"/>
            <a:ext cx="10532952" cy="18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3300"/>
              </a:lnSpc>
            </a:pPr>
            <a:r>
              <a:rPr sz="2200" b="0">
                <a:solidFill>
                  <a:srgbClr val="FFFFFF"/>
                </a:solidFill>
                <a:latin typeface="Inter"/>
                <a:ea typeface="PingFang SC"/>
              </a:rPr>
              <a:t>某整机产品 PCF 标称 45 kg CO₂e，
但追溯三层供应链，断点逐渐显现：
  ·  电池：供应商沿用 2021 年 LCA 因子，尚未更新
  ·  主控芯片：Tier-2 工厂填报「行业均值」，无独立凭证
  ·  物流：Cat 4 排放未按 GLEC v3 拆分起讫点
  ·  绿电：清洁能源凭证 vintage 与报告期错配</a:t>
            </a:r>
            <a:endParaRPr sz="2200" b="0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56000" y="2964565"/>
            <a:ext cx="1152000" cy="5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6000" y="5099730"/>
            <a:ext cx="648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3EC99E"/>
                </a:solidFill>
                <a:latin typeface="Inter"/>
                <a:ea typeface="PingFang SC"/>
              </a:rPr>
              <a:t>你看到的 PCF，是完整的证据链，还是拼凑的数字？</a:t>
            </a:r>
            <a:endParaRPr sz="16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27755" y="5662150"/>
            <a:ext cx="64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一个可信的 PCF 数字，需要每一层因子、凭证与分摊规则都可追溯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552952" y="432000"/>
            <a:ext cx="28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P3  · 供应链数据迷雾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1317" y="6462000"/>
            <a:ext cx="997635" cy="25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P4  · 现状问题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传统填报模式面临的四大挑战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Excel + 邮件 + 分散模板  →  审计底稿难以支撑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000" y="1512000"/>
            <a:ext cx="5872323" cy="487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400" b="1">
                <a:solidFill>
                  <a:srgbClr val="3EC99E"/>
                </a:solidFill>
                <a:latin typeface="Inter"/>
                <a:ea typeface="PingFang SC"/>
              </a:rPr>
              <a:t>▌FY 错位</a:t>
            </a:r>
            <a:endParaRPr sz="14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200">
                <a:solidFill>
                  <a:srgbClr val="3D444A"/>
                </a:solidFill>
                <a:latin typeface="Inter"/>
                <a:ea typeface="PingFang SC"/>
              </a:rPr>
              <a:t>   品牌方财年与企业自然年不同步，每年关账前紧急对齐，常来不及通过 Limited Assurance 核查</a:t>
            </a:r>
            <a:endParaRPr sz="12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3EC99E"/>
                </a:solidFill>
                <a:latin typeface="Inter"/>
                <a:ea typeface="PingFang SC"/>
              </a:rPr>
              <a:t>▌BOM 漂移</a:t>
            </a:r>
            <a:endParaRPr sz="14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200">
                <a:solidFill>
                  <a:srgbClr val="3D444A"/>
                </a:solidFill>
                <a:latin typeface="Inter"/>
                <a:ea typeface="PingFang SC"/>
              </a:rPr>
              <a:t>   因子库版本与物料 BOM 版本不同步，重出报告时口径不一致，需反复修正</a:t>
            </a:r>
            <a:endParaRPr sz="12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3EC99E"/>
                </a:solidFill>
                <a:latin typeface="Inter"/>
                <a:ea typeface="PingFang SC"/>
              </a:rPr>
              <a:t>▌凭证割裂</a:t>
            </a:r>
            <a:endParaRPr sz="14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200">
                <a:solidFill>
                  <a:srgbClr val="3D444A"/>
                </a:solidFill>
                <a:latin typeface="Inter"/>
                <a:ea typeface="PingFang SC"/>
              </a:rPr>
              <a:t>   清洁能源、清洁水、零废弃物、限用物质分属不同项目，统一归档难度高，核查时证据链断裂</a:t>
            </a:r>
            <a:endParaRPr sz="12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1000"/>
              </a:spcBef>
            </a:pPr>
            <a:r>
              <a:rPr sz="1400" b="1">
                <a:solidFill>
                  <a:srgbClr val="3EC99E"/>
                </a:solidFill>
                <a:latin typeface="Inter"/>
                <a:ea typeface="PingFang SC"/>
              </a:rPr>
              <a:t>▌分摊随意</a:t>
            </a:r>
            <a:endParaRPr sz="14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200">
                <a:solidFill>
                  <a:srgbClr val="3D444A"/>
                </a:solidFill>
                <a:latin typeface="Inter"/>
                <a:ea typeface="PingFang SC"/>
              </a:rPr>
              <a:t>   子计量 / 产量 / 销售额三档分摊规则缺乏统一标准，不同负责人口径不一致，底稿无法复现</a:t>
            </a:r>
            <a:endParaRPr sz="120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948805" y="1800225"/>
            <a:ext cx="4271010" cy="3099435"/>
          </a:xfrm>
          <a:prstGeom prst="roundRect">
            <a:avLst>
              <a:gd name="adj" fmla="val 20000"/>
            </a:avLst>
          </a:prstGeom>
          <a:solidFill>
            <a:srgbClr val="FFF5F5"/>
          </a:solidFill>
          <a:ln w="9525"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948632" y="1800000"/>
            <a:ext cx="4270780" cy="108000"/>
          </a:xfrm>
          <a:prstGeom prst="rect">
            <a:avLst/>
          </a:prstGeom>
          <a:solidFill>
            <a:srgbClr val="F12D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8632" y="2016000"/>
            <a:ext cx="4057241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12D2D"/>
                </a:solidFill>
                <a:latin typeface="Inter"/>
                <a:ea typeface="PingFang SC"/>
              </a:rPr>
              <a:t>结果</a:t>
            </a:r>
            <a:endParaRPr sz="1100" b="1">
              <a:solidFill>
                <a:srgbClr val="F12D2D"/>
              </a:solidFill>
              <a:latin typeface="Inter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28510" y="2339975"/>
            <a:ext cx="4057015" cy="310007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l">
              <a:lnSpc>
                <a:spcPts val="2000"/>
              </a:lnSpc>
            </a:pPr>
            <a:r>
              <a:rPr sz="1300" b="0">
                <a:solidFill>
                  <a:srgbClr val="3D444A"/>
                </a:solidFill>
                <a:latin typeface="Inter"/>
                <a:ea typeface="PingFang SC"/>
              </a:rPr>
              <a:t>Limited Assurance 底稿难以
自动生成，核查周期内
往往需要反复补充说明，
每轮填报成本居高不下。</a:t>
            </a:r>
            <a:endParaRPr sz="13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P5  · 核心架构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ArkSus 的解法：三本账，一次采集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Company Ledger  ·  Product Ledger  ·  Evidence Ledger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6000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6000" y="1476000"/>
            <a:ext cx="3438984" cy="10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6000" y="1728000"/>
            <a:ext cx="3078984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3EC99E"/>
                </a:solidFill>
                <a:latin typeface="Inter"/>
                <a:ea typeface="PingFang SC"/>
              </a:rPr>
              <a:t>Company
Ledger</a:t>
            </a:r>
            <a:endParaRPr sz="18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36000" y="2484000"/>
            <a:ext cx="307898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公司层级账本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36000" y="2844000"/>
            <a:ext cx="3078984" cy="1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6000" y="2952000"/>
            <a:ext cx="3078984" cy="32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按工厂 / 品牌方 FY 输出 Output 1
Scope 1/2/3 三栏 + 工厂拆分
多品牌方模板复用，一次采集多口径映射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4374984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4984" y="1476000"/>
            <a:ext cx="3438984" cy="10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54984" y="1728000"/>
            <a:ext cx="3078984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5CC13C"/>
                </a:solidFill>
                <a:latin typeface="Inter"/>
                <a:ea typeface="PingFang SC"/>
              </a:rPr>
              <a:t>Product
Ledger</a:t>
            </a:r>
            <a:endParaRPr sz="18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54984" y="2484000"/>
            <a:ext cx="307898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产品层级账本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4554984" y="2844000"/>
            <a:ext cx="3078984" cy="1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54984" y="2952000"/>
            <a:ext cx="3078984" cy="32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BOM × SKU × 功能单位生成 Output 2（PCF）
内置 GWP100（IPCC AR6）
支持多 SKU / APN / 功能单位核算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7993968" y="1476000"/>
            <a:ext cx="3438984" cy="4914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993968" y="1476000"/>
            <a:ext cx="3438984" cy="10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73968" y="1728000"/>
            <a:ext cx="3078984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400"/>
              </a:lnSpc>
            </a:pPr>
            <a:r>
              <a:rPr sz="1800" b="1">
                <a:solidFill>
                  <a:srgbClr val="C8E13C"/>
                </a:solidFill>
                <a:latin typeface="Inter"/>
                <a:ea typeface="PingFang SC"/>
              </a:rPr>
              <a:t>Evidence
Ledger</a:t>
            </a:r>
            <a:endParaRPr sz="1800" b="1">
              <a:solidFill>
                <a:srgbClr val="C8E13C"/>
              </a:solidFill>
              <a:latin typeface="Inter"/>
              <a:ea typeface="PingFang SC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173968" y="2484000"/>
            <a:ext cx="3078984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证据账本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173968" y="2844000"/>
            <a:ext cx="3078984" cy="18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173968" y="2952000"/>
            <a:ext cx="3078984" cy="322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900"/>
              </a:lnSpc>
            </a:pPr>
            <a:r>
              <a:rPr sz="1200" b="0">
                <a:solidFill>
                  <a:srgbClr val="3D444A"/>
                </a:solidFill>
                <a:latin typeface="Inter"/>
                <a:ea typeface="PingFang SC"/>
              </a:rPr>
              <a:t>因子版本 / 清洁能源凭证 vintage
活动数据快照 / 分摊规则 — 全部锁定留痕
核查底稿可直接引用，具备审计可追溯性</a:t>
            </a:r>
            <a:endParaRPr sz="12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56000" y="6138000"/>
            <a:ext cx="10676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→ 一次采集，多口径映射，多品牌方模板复用；底稿全程留痕，直接支撑 Limited Assurance 核查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EC99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776045" y="0"/>
            <a:ext cx="3412906" cy="6858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56000" y="2160000"/>
            <a:ext cx="10676952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EAFAF5"/>
                </a:solidFill>
                <a:latin typeface="Inter"/>
                <a:ea typeface="PingFang SC"/>
              </a:rPr>
              <a:t>P6 – P12  功能详解</a:t>
            </a:r>
            <a:endParaRPr sz="1300" b="0">
              <a:solidFill>
                <a:srgbClr val="EAFAF5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2808000"/>
            <a:ext cx="10676952" cy="15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ts val="4600"/>
              </a:lnSpc>
            </a:pPr>
            <a:r>
              <a:rPr sz="3800" b="1">
                <a:solidFill>
                  <a:srgbClr val="FFFFFF"/>
                </a:solidFill>
                <a:latin typeface="Inter"/>
                <a:ea typeface="PingFang SC"/>
              </a:rPr>
              <a:t>核心功能模组</a:t>
            </a:r>
            <a:endParaRPr sz="38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0" y="6714000"/>
            <a:ext cx="12188952" cy="14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stacked-re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88000" y="5832000"/>
            <a:ext cx="650623" cy="64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P6  · 核算输出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Output 1：公司层级分摊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Scope 1/2/3 三栏 · 工厂拆分 · 品牌方 FY 自动对齐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000" y="1476000"/>
            <a:ext cx="4697858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Scope 1/2/3 三栏拆分 + 工厂维度细化，清晰反映各生产单元贡献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支持子计量法 / 产量比例法 / 销售额比例法三档分摊，规则一经选定即锁定留痕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自动对齐品牌方财年（FY），避免自然年错位导致的重新核算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一键生成 Output 1 报告模板，格式可直接提交品牌方系统或第三方核查机构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历年数据留存，支持品牌方 FY 同比趋势分析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</p:txBody>
      </p:sp>
      <p:pic>
        <p:nvPicPr>
          <p:cNvPr id="10" name="Picture 9" descr="imag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8" y="1440000"/>
            <a:ext cx="5552015" cy="487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P7  · 产品碳足迹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Output 2：产品 / 功能单元级 PCF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BOM × 因子库 × 供应商 PCF  ·  从整机到 Tier-2 可追溯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pic>
        <p:nvPicPr>
          <p:cNvPr id="9" name="Picture 8" descr="image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000" y="1440000"/>
            <a:ext cx="5552015" cy="4878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60015" y="1476000"/>
            <a:ext cx="4697858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支持多 SKU / APN / 功能单位，按产品维度核算 PCF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内置 GWP100（IPCC AR6），方法学版本锁定留痕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可追溯至 Tier-2 零部件：主控芯片、显示模组、中框、摄像头、电池电芯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与供应商门户联动，自动拉取已审核的 Tier-2 PCF 声明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BOM 与因子库版本变动时，系统记录变更原因，避免隐性口径漂移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P8  · Scope 3 核算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Scope 3 价值链管理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Cat 1 / 3 / 4 / 5 必报四类  ·  实质性排放自动高亮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56000" y="1476000"/>
            <a:ext cx="4697858" cy="49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▌Cat 1  材料采购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100">
                <a:solidFill>
                  <a:srgbClr val="3D444A"/>
                </a:solidFill>
                <a:latin typeface="Inter"/>
                <a:ea typeface="PingFang SC"/>
              </a:rPr>
              <a:t>   物料因子映射 LCA + Tier-2 PCF 追溯，双工作区交叉校验</a:t>
            </a:r>
            <a:endParaRPr sz="11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▌Cat 3  能源上游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100">
                <a:solidFill>
                  <a:srgbClr val="3D444A"/>
                </a:solidFill>
                <a:latin typeface="Inter"/>
                <a:ea typeface="PingFang SC"/>
              </a:rPr>
              <a:t>   WTT/TTW 拆分，外购电力支持地点法 / 市场法两套核算</a:t>
            </a:r>
            <a:endParaRPr sz="11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▌Cat 4  物流运输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100">
                <a:solidFill>
                  <a:srgbClr val="3D444A"/>
                </a:solidFill>
                <a:latin typeface="Inter"/>
                <a:ea typeface="PingFang SC"/>
              </a:rPr>
              <a:t>   GLEC v3 距离-质量法，起讫点地图校验，凭证 vintage 锁定</a:t>
            </a:r>
            <a:endParaRPr sz="11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spcBef>
                <a:spcPts val="900"/>
              </a:spcBef>
            </a:pPr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▌Cat 5  废弃物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  <a:p>
            <a:pPr>
              <a:lnSpc>
                <a:spcPts val="1900"/>
              </a:lnSpc>
              <a:spcBef>
                <a:spcPts val="200"/>
              </a:spcBef>
            </a:pPr>
            <a:r>
              <a:rPr sz="1100">
                <a:solidFill>
                  <a:srgbClr val="3D444A"/>
                </a:solidFill>
                <a:latin typeface="Inter"/>
                <a:ea typeface="PingFang SC"/>
              </a:rPr>
              <a:t>   废水 / 固废承运商白名单管理，确保处置方式可核查</a:t>
            </a:r>
            <a:endParaRPr sz="110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56000" y="4140000"/>
            <a:ext cx="469785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支持 GHG Protocol 全部 15 类框架映射，实质性排放截断处自动高亮，便于审查聚焦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11" name="Picture 10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5858" y="1440000"/>
            <a:ext cx="5552015" cy="487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P9  · 供应商管理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供应商门户 · Scope 3 结构化采集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OCR 自动解析  ·  审核状态机  ·  Tier-2 / Tier-3 逐层延伸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813040" y="1475740"/>
            <a:ext cx="3444875" cy="30149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供应商上传 PCF 声明 / 底稿，系统结构化 OCR 解析，人工复核后自动归档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审核状态机：待提交 → 已提交 → 审核中 → 已通过 / 已驳回，流转状态全程留痕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数据隔离：不同品牌方对应独立视角，防止数据越权访问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一键邀请 Tier-2 / Tier-3 供应商，覆盖钢铁、铝、PCB、电池、物流等业态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跨企业碳数据请求形成闭环，支持声明书版本管理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</p:txBody>
      </p:sp>
      <p:pic>
        <p:nvPicPr>
          <p:cNvPr id="12" name="Image 0" descr="/Users/yymm/Library/Containers/com.kingsoft.wpsoffice.mac/Data/tmp/photoeditapp/20260523104920/temp.pngtemp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756285" y="1525748"/>
            <a:ext cx="6766560" cy="380619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P10  · 年度核查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年度填报向导与审查底稿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四步向导  ·  三大交付物  ·  直接支撑 Limited Assurance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756000" y="1512000"/>
            <a:ext cx="504000" cy="684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1512000"/>
            <a:ext cx="50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  <a:ea typeface="PingFang SC"/>
              </a:rPr>
              <a:t>01</a:t>
            </a:r>
            <a:endParaRPr sz="9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32000" y="1548000"/>
            <a:ext cx="404985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Step 1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332000" y="1836000"/>
            <a:ext cx="404985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3D444A"/>
                </a:solidFill>
                <a:latin typeface="Inter"/>
                <a:ea typeface="PingFang SC"/>
              </a:rPr>
              <a:t>锁定品牌方 FY 报告周期，系统自动校验 12 个月数据连续性</a:t>
            </a:r>
            <a:endParaRPr sz="10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46800" y="2196000"/>
            <a:ext cx="122400" cy="1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000" y="2304000"/>
            <a:ext cx="504000" cy="684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6000" y="2304000"/>
            <a:ext cx="50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  <a:ea typeface="PingFang SC"/>
              </a:rPr>
              <a:t>02</a:t>
            </a:r>
            <a:endParaRPr sz="9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332000" y="2340000"/>
            <a:ext cx="404985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Step 2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32000" y="2628000"/>
            <a:ext cx="404985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3D444A"/>
                </a:solidFill>
                <a:latin typeface="Inter"/>
                <a:ea typeface="PingFang SC"/>
              </a:rPr>
              <a:t>选择填报路径：产品级 BOM 明细 或 工厂级月度账单</a:t>
            </a:r>
            <a:endParaRPr sz="10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46800" y="2988000"/>
            <a:ext cx="122400" cy="1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000" y="3096000"/>
            <a:ext cx="504000" cy="684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56000" y="3096000"/>
            <a:ext cx="50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  <a:ea typeface="PingFang SC"/>
              </a:rPr>
              <a:t>03</a:t>
            </a:r>
            <a:endParaRPr sz="9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32000" y="3132000"/>
            <a:ext cx="404985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Step 3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332000" y="3420000"/>
            <a:ext cx="404985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3D444A"/>
                </a:solidFill>
                <a:latin typeface="Inter"/>
                <a:ea typeface="PingFang SC"/>
              </a:rPr>
              <a:t>录入数据，选择分摊规则（子计量 / 产量 / 销售额），规则锁定留痕</a:t>
            </a:r>
            <a:endParaRPr sz="10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946800" y="3780000"/>
            <a:ext cx="122400" cy="108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000" y="3888000"/>
            <a:ext cx="504000" cy="684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6000" y="3888000"/>
            <a:ext cx="504000" cy="68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Inter"/>
                <a:ea typeface="PingFang SC"/>
              </a:rPr>
              <a:t>04</a:t>
            </a:r>
            <a:endParaRPr sz="900" b="1">
              <a:solidFill>
                <a:srgbClr val="FFFFFF"/>
              </a:solidFill>
              <a:latin typeface="Inter"/>
              <a:ea typeface="PingFang SC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332000" y="3924000"/>
            <a:ext cx="4049858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E1216"/>
                </a:solidFill>
                <a:latin typeface="Inter"/>
                <a:ea typeface="PingFang SC"/>
              </a:rPr>
              <a:t>Step 4</a:t>
            </a:r>
            <a:endParaRPr sz="11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332000" y="4212000"/>
            <a:ext cx="4049858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500"/>
              </a:lnSpc>
            </a:pPr>
            <a:r>
              <a:rPr sz="1000" b="0">
                <a:solidFill>
                  <a:srgbClr val="3D444A"/>
                </a:solidFill>
                <a:latin typeface="Inter"/>
                <a:ea typeface="PingFang SC"/>
              </a:rPr>
              <a:t>预检通过后一键产出 Output 1 + Output 2 + Limited Assurance 底稿</a:t>
            </a:r>
            <a:endParaRPr sz="10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56000" y="4752000"/>
            <a:ext cx="4697858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600"/>
              </a:lnSpc>
            </a:pPr>
            <a:r>
              <a:rPr sz="1000" b="0">
                <a:solidFill>
                  <a:srgbClr val="8A9199"/>
                </a:solidFill>
                <a:latin typeface="Inter"/>
                <a:ea typeface="PingFang SC"/>
              </a:rPr>
              <a:t>底稿包含：方法学版本、因子版本、GWP 口径、清洁能源凭证 vintage、活动数据快照</a:t>
            </a:r>
            <a:endParaRPr sz="10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pic>
        <p:nvPicPr>
          <p:cNvPr id="29" name="Picture 28" descr="imag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2580" y="1326515"/>
            <a:ext cx="4414520" cy="2565400"/>
          </a:xfrm>
          <a:prstGeom prst="rect">
            <a:avLst/>
          </a:prstGeom>
        </p:spPr>
      </p:pic>
      <p:pic>
        <p:nvPicPr>
          <p:cNvPr id="30" name="Picture 29" descr="image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2580" y="3948430"/>
            <a:ext cx="4415155" cy="236029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P11  · 现场改善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能源管理与绿色工厂评价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GB/T 36132-2025  ·  14 项指标  ·  五星评级  ·  六维雷达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pic>
        <p:nvPicPr>
          <p:cNvPr id="9" name="Picture 8" descr="image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6285" y="1440180"/>
            <a:ext cx="7345045" cy="4364355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440420" y="1475740"/>
            <a:ext cx="2993390" cy="464185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六维能力雷达：基础设施 / 管理体系 / 能源资源 / 产品 / 环境排放 / 绩效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14 项量化指标，8 季度滚动评分，支持五星 / 四星 / 三星基准线模拟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改善趋势预测：基于历史数据生成改善路径参考，辅助资源优先级决策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关键指标可下钻至对应碳核算 / 能源数据来源，确保评分数据可审计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  <a:p>
            <a:pPr>
              <a:lnSpc>
                <a:spcPts val="2000"/>
              </a:lnSpc>
              <a:spcBef>
                <a:spcPts val="700"/>
              </a:spcBef>
            </a:pPr>
            <a:r>
              <a:rPr sz="1300">
                <a:solidFill>
                  <a:srgbClr val="3D444A"/>
                </a:solidFill>
                <a:latin typeface="Inter"/>
                <a:ea typeface="PingFang SC"/>
              </a:rPr>
              <a:t>· 导出 Excel（评分明细 + 改善工单）/ PDF（含图表快照），支持内部评审与对外披露</a:t>
            </a:r>
            <a:endParaRPr sz="1300">
              <a:solidFill>
                <a:srgbClr val="3D444A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62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EC99E"/>
                </a:solidFill>
                <a:latin typeface="Inter"/>
                <a:ea typeface="PingFang SC"/>
              </a:rPr>
              <a:t>P12  · AI 增强</a:t>
            </a:r>
            <a:endParaRPr sz="9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396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AI 寻优六大能力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56000" y="972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建议 + 人工审批 + 回算  ·  每项策略均需确认后联动执行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56000" y="1440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6000" y="1440000"/>
            <a:ext cx="3438984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0000" y="1620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EC99E"/>
                </a:solidFill>
                <a:latin typeface="Inter"/>
                <a:ea typeface="PingFang SC"/>
              </a:rPr>
              <a:t>AI-01</a:t>
            </a:r>
            <a:endParaRPr sz="8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00000" y="1836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AI 优化中枢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0000" y="2232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六大能力一屏暴露，模块即插即用
覆盖空间与生效策略实时汇总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4374984" y="1440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F0FDF4"/>
          </a:solidFill>
          <a:ln w="9525"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74984" y="1440000"/>
            <a:ext cx="3438984" cy="90000"/>
          </a:xfrm>
          <a:prstGeom prst="rect">
            <a:avLst/>
          </a:prstGeom>
          <a:solidFill>
            <a:srgbClr val="5CC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18984" y="1620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5CC13C"/>
                </a:solidFill>
                <a:latin typeface="Inter"/>
                <a:ea typeface="PingFang SC"/>
              </a:rPr>
              <a:t>AI-02</a:t>
            </a:r>
            <a:endParaRPr sz="8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18984" y="1836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多能源调度策略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18984" y="2232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峰谷电价 × 光伏预测 × 储能 SoC × 工序排程
24h 协同寻优，场景可切换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7993968" y="1440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993968" y="1440000"/>
            <a:ext cx="3438984" cy="90000"/>
          </a:xfrm>
          <a:prstGeom prst="rect">
            <a:avLst/>
          </a:prstGeom>
          <a:solidFill>
            <a:srgbClr val="319E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7968" y="1620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319E7C"/>
                </a:solidFill>
                <a:latin typeface="Inter"/>
                <a:ea typeface="PingFang SC"/>
              </a:rPr>
              <a:t>AI-03</a:t>
            </a:r>
            <a:endParaRPr sz="800" b="1">
              <a:solidFill>
                <a:srgbClr val="319E7C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137968" y="1836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数字孪生 · 设备级 AI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137968" y="2232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3D 热点渲染，热度 / 能源 / 告警四视图
与能效诊断模块实时联动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56000" y="4005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6000" y="4005000"/>
            <a:ext cx="3438984" cy="90000"/>
          </a:xfrm>
          <a:prstGeom prst="rect">
            <a:avLst/>
          </a:prstGeom>
          <a:solidFill>
            <a:srgbClr val="C8E1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000" y="4185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C8E13C"/>
                </a:solidFill>
                <a:latin typeface="Inter"/>
                <a:ea typeface="PingFang SC"/>
              </a:rPr>
              <a:t>AI-04</a:t>
            </a:r>
            <a:endParaRPr sz="800" b="1">
              <a:solidFill>
                <a:srgbClr val="C8E13C"/>
              </a:solidFill>
              <a:latin typeface="Inter"/>
              <a:ea typeface="PingFang SC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00000" y="4401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AI 能效诊断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900000" y="4797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Z-score / EWMA 异常归因
节能机会清单自动生成，优先级可排序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4374984" y="4005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FFFDF0"/>
          </a:solidFill>
          <a:ln w="9525">
            <a:solidFill>
              <a:srgbClr val="FDE6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74984" y="4005000"/>
            <a:ext cx="3438984" cy="90000"/>
          </a:xfrm>
          <a:prstGeom prst="rect">
            <a:avLst/>
          </a:prstGeom>
          <a:solidFill>
            <a:srgbClr val="F3B02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18984" y="4185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3B021"/>
                </a:solidFill>
                <a:latin typeface="Inter"/>
                <a:ea typeface="PingFang SC"/>
              </a:rPr>
              <a:t>AI-05</a:t>
            </a:r>
            <a:endParaRPr sz="800" b="1">
              <a:solidFill>
                <a:srgbClr val="F3B021"/>
              </a:solidFill>
              <a:latin typeface="Inter"/>
              <a:ea typeface="PingFang SC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518984" y="4401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天气感知微调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18984" y="4797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外温 / 辐照 / 风速实时驱动
光伏出力修正与冷站负荷预测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34" name="Rounded Rectangle 33"/>
          <p:cNvSpPr/>
          <p:nvPr/>
        </p:nvSpPr>
        <p:spPr>
          <a:xfrm>
            <a:off x="7993968" y="4005000"/>
            <a:ext cx="3438984" cy="238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993968" y="4005000"/>
            <a:ext cx="3438984" cy="90000"/>
          </a:xfrm>
          <a:prstGeom prst="rect">
            <a:avLst/>
          </a:prstGeom>
          <a:solidFill>
            <a:srgbClr val="0E12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37968" y="4185000"/>
            <a:ext cx="7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0E1216"/>
                </a:solidFill>
                <a:latin typeface="Inter"/>
                <a:ea typeface="PingFang SC"/>
              </a:rPr>
              <a:t>AI-06</a:t>
            </a:r>
            <a:endParaRPr sz="8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8137968" y="4401000"/>
            <a:ext cx="3150984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1216"/>
                </a:solidFill>
                <a:latin typeface="Inter"/>
                <a:ea typeface="PingFang SC"/>
              </a:rPr>
              <a:t>碳智 Copilot</a:t>
            </a:r>
            <a:endParaRPr sz="13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137968" y="4797000"/>
            <a:ext cx="3150984" cy="1449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700"/>
              </a:lnSpc>
            </a:pPr>
            <a:r>
              <a:rPr sz="1100" b="0">
                <a:solidFill>
                  <a:srgbClr val="3D444A"/>
                </a:solidFill>
                <a:latin typeface="Inter"/>
                <a:ea typeface="PingFang SC"/>
              </a:rPr>
              <a:t>全局浮窗，自然语言提问
可对接品牌方行为准则 / ISO 标准知识库</a:t>
            </a:r>
            <a:endParaRPr sz="11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56000" y="6102000"/>
            <a:ext cx="10676952" cy="25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A9199"/>
                </a:solidFill>
                <a:latin typeface="Inter"/>
                <a:ea typeface="PingFang SC"/>
              </a:rPr>
              <a:t>注：所有 AI 策略经人工审批后联动 EMS 执行，策略有效性受实际运营条件影响，回算结果仅供参考</a:t>
            </a:r>
            <a:endParaRPr sz="9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品牌方获得什么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四项可量化、可审计的核心回报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56000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EAFAF5"/>
          </a:solidFill>
          <a:ln w="9525">
            <a:solidFill>
              <a:srgbClr val="B8ED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2000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3EC99E"/>
                </a:solidFill>
                <a:latin typeface="Inter"/>
                <a:ea typeface="PingFang SC"/>
              </a:rPr>
              <a:t>合规效率</a:t>
            </a:r>
            <a:endParaRPr sz="44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2000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Output 1/2 直出，FY 对齐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72000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多品牌方模板复用，一次采集满足多口径需求，减少重复对齐工作量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6238476" y="1512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54476" y="1800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数据可信</a:t>
            </a:r>
            <a:endParaRPr sz="4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54476" y="2844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证据链完整，Limited Assurance 就绪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54476" y="3276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因子版本、凭证、分摊规则、vintage 全部锁定留痕，底稿可直接引用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56000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2F3F5"/>
          </a:solidFill>
          <a:ln w="9525">
            <a:solidFill>
              <a:srgbClr val="D0D5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72000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0E1216"/>
                </a:solidFill>
                <a:latin typeface="Inter"/>
                <a:ea typeface="PingFang SC"/>
              </a:rPr>
              <a:t>供应商改善</a:t>
            </a:r>
            <a:endParaRPr sz="4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72000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Tier-2/3 主动上报，数据可追溯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000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供应商门户驱动上游数据结构化采集，覆盖钢铁、铝、PCB、电池、物流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238476" y="4095000"/>
            <a:ext cx="5194476" cy="2295000"/>
          </a:xfrm>
          <a:prstGeom prst="roundRect">
            <a:avLst>
              <a:gd name="adj" fmla="val 20000"/>
            </a:avLst>
          </a:prstGeom>
          <a:solidFill>
            <a:srgbClr val="F8FBE7"/>
          </a:solidFill>
          <a:ln w="9525">
            <a:solidFill>
              <a:srgbClr val="DBE89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54476" y="4383000"/>
            <a:ext cx="4762476" cy="10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5CC13C"/>
                </a:solidFill>
                <a:latin typeface="Inter"/>
                <a:ea typeface="PingFang SC"/>
              </a:rPr>
              <a:t>产品降碳路径</a:t>
            </a:r>
            <a:endParaRPr sz="4400" b="1">
              <a:solidFill>
                <a:srgbClr val="5CC13C"/>
              </a:solidFill>
              <a:latin typeface="Inter"/>
              <a:ea typeface="PingFang SC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54476" y="5427000"/>
            <a:ext cx="4762476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E1216"/>
                </a:solidFill>
                <a:latin typeface="Inter"/>
                <a:ea typeface="PingFang SC"/>
              </a:rPr>
              <a:t>PCF 可拆分至物料级</a:t>
            </a:r>
            <a:endParaRPr sz="14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454476" y="5859000"/>
            <a:ext cx="4762476" cy="31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AI 寻优与碳核算联动，辅助识别高排放环节，支持制定降碳改善计划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0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6000" y="198000"/>
            <a:ext cx="87551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E1216"/>
                </a:solidFill>
                <a:latin typeface="Inter"/>
                <a:ea typeface="PingFang SC"/>
              </a:rPr>
              <a:t>标准对齐</a:t>
            </a:r>
            <a:endParaRPr sz="2600" b="1">
              <a:solidFill>
                <a:srgbClr val="0E1216"/>
              </a:soli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864000"/>
            <a:ext cx="8541561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A9199"/>
                </a:solidFill>
                <a:latin typeface="Inter"/>
                <a:ea typeface="PingFang SC"/>
              </a:rPr>
              <a:t>ArkSus® AI+ GEMP 内置支持的国际与国内标准体系</a:t>
            </a:r>
            <a:endParaRPr sz="12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56000" y="1206000"/>
            <a:ext cx="10676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6390000"/>
            <a:ext cx="12188952" cy="144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logo-horizontal-primar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67317" y="6498000"/>
            <a:ext cx="997635" cy="252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56000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国际框架与协议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56000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ISO 14040 / 14044  生命周期评价
ISO 14064-1  组织温室气体核算
ISO 14067  产品碳足迹
GHG Protocol  企业核算标准
ISAE 3410  有限保证核查
CBAM  碳边境调节机制
SBTi  科学碳目标倡议
TCFD  气候相关财务信息披露
CDP  碳披露项目
SEC Climate Rule  美国气候信息披露规则
PAS 2050  产品生命周期温室气体标准
ISO 50001  能源管理体系</a:t>
            </a:r>
            <a:endParaRPr sz="14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202476" y="1476000"/>
            <a:ext cx="5230476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3EC99E"/>
                </a:solidFill>
                <a:latin typeface="Inter"/>
                <a:ea typeface="PingFang SC"/>
              </a:rPr>
              <a:t>国内标准与行业规范</a:t>
            </a:r>
            <a:endParaRPr sz="1300" b="1">
              <a:solidFill>
                <a:srgbClr val="3EC99E"/>
              </a:solidFill>
              <a:latin typeface="Inter"/>
              <a:ea typeface="PingFang SC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02476" y="1980000"/>
            <a:ext cx="5230476" cy="441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ts val="2200"/>
              </a:lnSpc>
            </a:pPr>
            <a:r>
              <a:rPr sz="1400" b="0">
                <a:solidFill>
                  <a:srgbClr val="3D444A"/>
                </a:solidFill>
                <a:latin typeface="Inter"/>
                <a:ea typeface="PingFang SC"/>
              </a:rPr>
              <a:t>GB/T 32150  工业企业温室气体核查指南
GB/T 36132-2025  绿色工厂评价通则
品牌方专项规范：
  ·  供应商行为准则（Supplier CoC）
  ·  供应商清洁能源项目要求
  ·  年度填报模板（Output 1 / 2）
注：平台支持规范映射，具体合规判定
以品牌方最新发布的官方文件为准</a:t>
            </a:r>
            <a:endParaRPr sz="1400" b="0">
              <a:solidFill>
                <a:srgbClr val="3D444A"/>
              </a:solidFill>
              <a:latin typeface="Inter"/>
              <a:ea typeface="PingFang SC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094476" y="1620000"/>
            <a:ext cx="14400" cy="4626000"/>
          </a:xfrm>
          <a:prstGeom prst="rect">
            <a:avLst/>
          </a:prstGeom>
          <a:solidFill>
            <a:srgbClr val="D0D5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E121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-stacked-rever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52000" y="1152000"/>
            <a:ext cx="867497" cy="864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56000" y="2736000"/>
            <a:ext cx="10676952" cy="14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000" b="1">
                <a:gradFill rotWithShape="1">
                  <a:gsLst>
                    <a:gs pos="0">
                      <a:srgbClr val="3EC99E">
                        <a:alpha val="100000"/>
                      </a:srgbClr>
                    </a:gs>
                    <a:gs pos="48000">
                      <a:srgbClr val="5CC13C">
                        <a:alpha val="100000"/>
                      </a:srgbClr>
                    </a:gs>
                    <a:gs pos="100000">
                      <a:srgbClr val="C8E13C">
                        <a:alpha val="100000"/>
                      </a:srgbClr>
                    </a:gs>
                  </a:gsLst>
                  <a:lin ang="0"/>
                </a:gradFill>
                <a:latin typeface="Inter"/>
                <a:ea typeface="PingFang SC"/>
              </a:rPr>
              <a:t>让能源与碳，成为可经营的资产</a:t>
            </a:r>
            <a:endParaRPr sz="5000" b="1">
              <a:gradFill rotWithShape="1">
                <a:gsLst>
                  <a:gs pos="0">
                    <a:srgbClr val="3EC99E">
                      <a:alpha val="100000"/>
                    </a:srgbClr>
                  </a:gs>
                  <a:gs pos="48000">
                    <a:srgbClr val="5CC13C">
                      <a:alpha val="100000"/>
                    </a:srgbClr>
                  </a:gs>
                  <a:gs pos="100000">
                    <a:srgbClr val="C8E13C">
                      <a:alpha val="100000"/>
                    </a:srgbClr>
                  </a:gs>
                </a:gsLst>
                <a:lin ang="0"/>
              </a:gradFill>
              <a:latin typeface="Inter"/>
              <a:ea typeface="PingFang SC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756000" y="4392000"/>
            <a:ext cx="10676952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8A9199"/>
                </a:solidFill>
                <a:latin typeface="Inter"/>
                <a:ea typeface="PingFang SC"/>
              </a:rPr>
              <a:t>ArkSus® AI+ GEMP  ·  上海未来方舟智能科技有限公司  ·  arksus@futureark.ai</a:t>
            </a:r>
            <a:endParaRPr sz="1400" b="0">
              <a:solidFill>
                <a:srgbClr val="8A9199"/>
              </a:solidFill>
              <a:latin typeface="Inter"/>
              <a:ea typeface="PingFang SC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0" y="6732000"/>
            <a:ext cx="12188952" cy="126000"/>
          </a:xfrm>
          <a:prstGeom prst="rect">
            <a:avLst/>
          </a:prstGeom>
          <a:solidFill>
            <a:srgbClr val="3EC9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rktechX">
  <a:themeElements>
    <a:clrScheme name="ArktechX Colors">
      <a:dk1>
        <a:srgbClr val="0E1216"/>
      </a:dk1>
      <a:lt1>
        <a:srgbClr val="FFFFFF"/>
      </a:lt1>
      <a:dk2>
        <a:srgbClr val="3D444A"/>
      </a:dk2>
      <a:lt2>
        <a:srgbClr val="F2F3F5"/>
      </a:lt2>
      <a:accent1>
        <a:srgbClr val="3EC99E"/>
      </a:accent1>
      <a:accent2>
        <a:srgbClr val="C8E13C"/>
      </a:accent2>
      <a:accent3>
        <a:srgbClr val="319E7C"/>
      </a:accent3>
      <a:accent4>
        <a:srgbClr val="8A9199"/>
      </a:accent4>
      <a:accent5>
        <a:srgbClr val="D0D5DD"/>
      </a:accent5>
      <a:accent6>
        <a:srgbClr val="EAFAF5"/>
      </a:accent6>
      <a:hlink>
        <a:srgbClr val="3EC99E"/>
      </a:hlink>
      <a:folHlink>
        <a:srgbClr val="319E7C"/>
      </a:folHlink>
    </a:clrScheme>
    <a:fontScheme name="ArktechX Fonts">
      <a:majorFont>
        <a:latin typeface="Inter"/>
        <a:ea typeface="PingFang SC"/>
        <a:cs typeface=""/>
      </a:majorFont>
      <a:minorFont>
        <a:latin typeface="Inter"/>
        <a:ea typeface="PingFang SC"/>
        <a:cs typeface=""/>
      </a:minorFont>
    </a:fontScheme>
    <a:fmtScheme name="ArktechX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0000" dist="12000" dir="5400000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162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4128</Words>
  <Application>WPS Presentation</Application>
  <PresentationFormat>On-screen Show (4:3)</PresentationFormat>
  <Paragraphs>276</Paragraphs>
  <Slides>16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4" baseType="lpstr">
      <vt:lpstr>Arial</vt:lpstr>
      <vt:lpstr>SimSun</vt:lpstr>
      <vt:lpstr>Wingdings</vt:lpstr>
      <vt:lpstr>Arial</vt:lpstr>
      <vt:lpstr>Inter</vt:lpstr>
      <vt:lpstr>Thonburi</vt:lpstr>
      <vt:lpstr>PingFang SC</vt:lpstr>
      <vt:lpstr>SimSun</vt:lpstr>
      <vt:lpstr>汉仪书宋二KW</vt:lpstr>
      <vt:lpstr>Microsoft YaHei</vt:lpstr>
      <vt:lpstr>汉仪旗黑</vt:lpstr>
      <vt:lpstr>Calibri</vt:lpstr>
      <vt:lpstr>Helvetica Neue</vt:lpstr>
      <vt:lpstr>Arial Unicode MS</vt:lpstr>
      <vt:lpstr>宋体-简</vt:lpstr>
      <vt:lpstr>Inter</vt:lpstr>
      <vt:lpstr>苹方-简</vt:lpstr>
      <vt:lpstr>ArktechX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lukkawoo</cp:lastModifiedBy>
  <cp:revision>4</cp:revision>
  <dcterms:created xsi:type="dcterms:W3CDTF">2026-06-04T06:58:03Z</dcterms:created>
  <dcterms:modified xsi:type="dcterms:W3CDTF">2026-06-04T06:58:03Z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E37120D38382C63CBC54196A1B9EFEB1_42</vt:lpwstr>
  </property>
  <property fmtid="{D5CDD505-2E9C-101B-9397-08002B2CF9AE}" pid="3" name="KSOProductBuildVer">
    <vt:lpwstr>1033-12.1.25897.25897</vt:lpwstr>
  </property>
</Properties>
</file>