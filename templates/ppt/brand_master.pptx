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288000"/>
            <a:ext cx="10676952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1216"/>
                </a:solidFill>
                <a:latin typeface="Inter"/>
                <a:ea typeface="PingFang SC"/>
              </a:rPr>
              <a:t>品牌 PPT 母版版式目录</a:t>
            </a:r>
            <a:endParaRPr sz="28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6000" y="136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40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01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0000" y="136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封面页 — 深色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0000" y="172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Cover Dark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4984" y="136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0984" y="140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02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8984" y="136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封面页 — 浅色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8984" y="172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Cover Light  (VS Style)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73968" y="136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968" y="140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03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77968" y="136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章节分隔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77968" y="172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Section Divider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6000" y="208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212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04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0000" y="208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标准内容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0000" y="244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Title + Content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4984" y="208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0984" y="212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05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18984" y="208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两列内容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18984" y="244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Two Columns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873968" y="208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968" y="212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06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77968" y="208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三列卡片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77968" y="244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Three Cards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6000" y="280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284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07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60000" y="280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大数据指标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60000" y="316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Big Stats (2×2)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14984" y="280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0984" y="284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08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18984" y="280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水平时间轴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18984" y="316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Timeline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873968" y="280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968" y="284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09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77968" y="280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引用证言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77968" y="316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Quote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56000" y="352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000" y="356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10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60000" y="352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表格页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60000" y="388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Table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314984" y="352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50984" y="356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11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818984" y="352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左文右图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18984" y="388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Text + Image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873968" y="3528000"/>
            <a:ext cx="432000" cy="360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968" y="3564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  <a:ea typeface="PingFang SC"/>
              </a:rPr>
              <a:t>12</a:t>
            </a:r>
            <a:endParaRPr sz="10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77968" y="3528000"/>
            <a:ext cx="2982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1216"/>
                </a:solidFill>
                <a:latin typeface="Inter"/>
                <a:ea typeface="PingFang SC"/>
              </a:rPr>
              <a:t>结尾致谢</a:t>
            </a:r>
            <a:endParaRPr sz="12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77968" y="3888000"/>
            <a:ext cx="2982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Closing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596952" y="642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D0D5DD"/>
                </a:solidFill>
                <a:latin typeface="Inter"/>
                <a:ea typeface="PingFang SC"/>
              </a:rPr>
              <a:t>00 · Index</a:t>
            </a:r>
            <a:endParaRPr sz="800" b="0">
              <a:solidFill>
                <a:srgbClr val="D0D5DD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5400000">
            <a:off x="1336611" y="4371403"/>
            <a:ext cx="27432" cy="109728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acked-re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000" y="396000"/>
            <a:ext cx="939789" cy="9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2340000"/>
            <a:ext cx="73800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Alibaba PuHuiTi 2.0 75 SemiBold" panose="00020600040101010101" charset="-122"/>
                <a:ea typeface="Alibaba PuHuiTi 2.0 75 SemiBold" panose="00020600040101010101" charset="-122"/>
              </a:rPr>
              <a:t>能碳智能管理平台</a:t>
            </a:r>
            <a:endParaRPr sz="4200" b="1">
              <a:gradFill rotWithShape="1">
                <a:gsLst>
                  <a:gs pos="0">
                    <a:srgbClr val="3EC99E">
                      <a:alpha val="100000"/>
                    </a:srgbClr>
                  </a:gs>
                  <a:gs pos="48000">
                    <a:srgbClr val="5CC13C">
                      <a:alpha val="100000"/>
                    </a:srgbClr>
                  </a:gs>
                  <a:gs pos="100000">
                    <a:srgbClr val="C8E13C">
                      <a:alpha val="100000"/>
                    </a:srgbClr>
                  </a:gs>
                </a:gsLst>
                <a:lin ang="0"/>
              </a:gradFill>
              <a:latin typeface="Alibaba PuHuiTi 2.0 75 SemiBold" panose="00020600040101010101" charset="-122"/>
              <a:ea typeface="Alibaba PuHuiTi 2.0 75 SemiBold" panose="0002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000" y="3852000"/>
            <a:ext cx="738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199"/>
                </a:solidFill>
                <a:latin typeface="Alibaba PuHuiTi 2.0 35 Thin" panose="00020600040101010101" charset="-122"/>
                <a:ea typeface="Alibaba PuHuiTi 2.0 35 Thin" panose="00020600040101010101" charset="-122"/>
              </a:rPr>
              <a:t>Industrial Carbon &amp; Energy Management Platform</a:t>
            </a:r>
            <a:endParaRPr sz="1600" b="0">
              <a:solidFill>
                <a:srgbClr val="8A9199"/>
              </a:solidFill>
              <a:latin typeface="Alibaba PuHuiTi 2.0 35 Thin" panose="00020600040101010101" charset="-122"/>
              <a:ea typeface="Alibaba PuHuiTi 2.0 35 Thin" panose="0002060004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1845" y="4535805"/>
            <a:ext cx="737997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EAFAF5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未来方舟（上海）科技有限公司  ·  ArktechX</a:t>
            </a:r>
            <a:endParaRPr sz="1200" b="0">
              <a:solidFill>
                <a:srgbClr val="EAFAF5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4570885" y="544285"/>
            <a:ext cx="7380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>
                <a:solidFill>
                  <a:srgbClr val="8A9199"/>
                </a:solidFill>
                <a:latin typeface="Alibaba PuHuiTi 2.0 35 Thin" panose="00020600040101010101" charset="-122"/>
                <a:ea typeface="Alibaba PuHuiTi 2.0 35 Thin" panose="00020600040101010101" charset="-122"/>
              </a:rPr>
              <a:t>INTELLIGENCE · EFFICIENCY · TRUST</a:t>
            </a:r>
            <a:endParaRPr lang="en-US" altLang="en-US" sz="1200" b="0">
              <a:solidFill>
                <a:srgbClr val="8A9199"/>
              </a:solidFill>
              <a:latin typeface="Alibaba PuHuiTi 2.0 35 Thin" panose="00020600040101010101" charset="-122"/>
              <a:ea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3240000"/>
            <a:ext cx="11468952" cy="1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3384000"/>
            <a:ext cx="720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</a:pPr>
            <a:r>
              <a:rPr sz="44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能碳智能管理平台</a:t>
            </a:r>
            <a:endParaRPr sz="4400" b="1">
              <a:gradFill rotWithShape="1">
                <a:gsLst>
                  <a:gs pos="0">
                    <a:srgbClr val="3EC99E">
                      <a:alpha val="100000"/>
                    </a:srgbClr>
                  </a:gs>
                  <a:gs pos="48000">
                    <a:srgbClr val="5CC13C">
                      <a:alpha val="100000"/>
                    </a:srgbClr>
                  </a:gs>
                  <a:gs pos="100000">
                    <a:srgbClr val="C8E13C">
                      <a:alpha val="100000"/>
                    </a:srgbClr>
                  </a:gs>
                </a:gsLst>
                <a:lin ang="0"/>
              </a:gra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000" y="5004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216"/>
                </a:solidFill>
                <a:latin typeface="Inter"/>
                <a:ea typeface="PingFang SC"/>
              </a:rPr>
              <a:t>Industrial Carbon &amp; Energy Management Platform</a:t>
            </a:r>
            <a:endParaRPr sz="1500" b="0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000" y="55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未来方舟（上海）科技有限公司  ·  2025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7" name="Picture 6" descr="logo-stacked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000" y="504000"/>
            <a:ext cx="867497" cy="8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ONE</a:t>
            </a:r>
            <a:endParaRPr sz="1300" b="0">
              <a:solidFill>
                <a:srgbClr val="EAFAF5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第一章：产品概述</a:t>
            </a:r>
            <a:endParaRPr sz="38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平台核心能力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Platform Core Capabilities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96952" y="642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D0D5DD"/>
                </a:solidFill>
                <a:latin typeface="Inter"/>
                <a:ea typeface="PingFang SC"/>
              </a:rPr>
              <a:t>04 · Title + Content</a:t>
            </a:r>
            <a:endParaRPr sz="800" b="0">
              <a:solidFill>
                <a:srgbClr val="D0D5DD"/>
              </a:solidFill>
              <a:latin typeface="Inter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Scope 1/2/3 排放源自动识别与核算，符合 ISO 14064 &amp; GHG Protocol</a:t>
            </a:r>
            <a:endParaRPr sz="17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多工厂、多能源介质数据实时接入，支持工业协议 OPC-UA / Modbus</a:t>
            </a:r>
            <a:endParaRPr sz="17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碳资产台账管理：CCER 挂牌、注销、交易全流程追踪</a:t>
            </a:r>
            <a:endParaRPr sz="17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报告中心：一键生成 GHG 声明、核查支撑材料、绿色工厂评价报告</a:t>
            </a:r>
            <a:endParaRPr sz="17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驾驶舱看板：集团/工厂/设备三级穿透，KPI 实时预警</a:t>
            </a:r>
            <a:endParaRPr sz="170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行业挑战与平台应对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Challenge vs. Solution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企业面临的核心痛点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• 数据孤岛：能耗数据分散在 ERP / MES / SCADA，人工汇总误差高
• 核算滞后：月度对账周期长，无法实时掌握排放趋势
• 合规压力：核查报告格式多变，第三方审计沟通成本高
• 范围三盲区：供应链碳数据收集缺乏标准工具</a:t>
            </a:r>
            <a:endParaRPr sz="14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ArkSus 平台解法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• 统一数据底座：IoT + API 双通道接入，自动清洗标准化
• 实时核算引擎：基于 GHG Protocol 排放因子库，T+0 出数
• 智能报告中心：预置核查机构模板，一键生成可追溯报告
• Scope 3 模块：供应商碳数据采集问卷 + LCA 集成</a:t>
            </a:r>
            <a:endParaRPr sz="14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三大核心价值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Three Core Value Propositions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ACCURACY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数据可信</a:t>
            </a:r>
            <a:endParaRPr sz="1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基于国际标准（ISO 14064、GHG Protocol）自动核算，全链路留痕，支持第三方核查。</a:t>
            </a:r>
            <a:endParaRPr sz="13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EFFICIENCY</a:t>
            </a:r>
            <a:endParaRPr sz="9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流程提效</a:t>
            </a:r>
            <a:endParaRPr sz="1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碳盘查周期从 3 个月缩短至 3 天，报告生成自动化率 ≥ 90%，合规成本大幅下降。</a:t>
            </a:r>
            <a:endParaRPr sz="13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INSIGHT</a:t>
            </a:r>
            <a:endParaRPr sz="900" b="1">
              <a:solidFill>
                <a:srgbClr val="C8E13C"/>
              </a:solidFill>
              <a:latin typeface="Inter"/>
              <a:ea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决策支持</a:t>
            </a:r>
            <a:endParaRPr sz="1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集团→工厂→设备三级穿透看板，实时识别高排放环节，为减碳投资提供数据支撑。</a:t>
            </a:r>
            <a:endParaRPr sz="13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平台关键指标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Key Performance Metrics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EC99E"/>
                </a:solidFill>
                <a:latin typeface="Inter"/>
                <a:ea typeface="PingFang SC"/>
              </a:rPr>
              <a:t>98%</a:t>
            </a:r>
            <a:endParaRPr sz="44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2000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核算准确率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2000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基于国际标准自动核算，误差 &lt; 2%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8476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4476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3天</a:t>
            </a:r>
            <a:endParaRPr sz="4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4476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盘查周期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4476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传统方式 3 个月缩短至 3 天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6000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30+</a:t>
            </a:r>
            <a:endParaRPr sz="4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2000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接入工厂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000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支持多能源介质、多标准并行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38476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4476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CC13C"/>
                </a:solidFill>
                <a:latin typeface="Inter"/>
                <a:ea typeface="PingFang SC"/>
              </a:rPr>
              <a:t>100%</a:t>
            </a:r>
            <a:endParaRPr sz="44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54476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报告合规率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54476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预置核查机构标准模板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双碳路线图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Carbon Neutrality Roadmap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09295" y="2203200"/>
            <a:ext cx="8570362" cy="576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65295" y="2088000"/>
            <a:ext cx="288000" cy="288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440000"/>
            <a:ext cx="210659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2024 Q2</a:t>
            </a:r>
            <a:endParaRPr sz="11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000" y="2520000"/>
            <a:ext cx="196259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基础建设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000" y="3132000"/>
            <a:ext cx="196259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完成能耗数据接入
Scope 1+2 核算上线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71885" y="2088000"/>
            <a:ext cx="288000" cy="288000"/>
          </a:xfrm>
          <a:prstGeom prst="round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590" y="1440000"/>
            <a:ext cx="210659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2024 Q4</a:t>
            </a:r>
            <a:endParaRPr sz="11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34590" y="2520000"/>
            <a:ext cx="196259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合规认证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34590" y="3132000"/>
            <a:ext cx="196259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完成首次第三方核查
绿色工厂评价申报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78475" y="2088000"/>
            <a:ext cx="288000" cy="288000"/>
          </a:xfrm>
          <a:prstGeom prst="round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180" y="1440000"/>
            <a:ext cx="210659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2025 Q2</a:t>
            </a:r>
            <a:endParaRPr sz="11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41180" y="2520000"/>
            <a:ext cx="196259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范围扩展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41180" y="3132000"/>
            <a:ext cx="196259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Scope 3 供应链模块
上线运行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985065" y="2088000"/>
            <a:ext cx="288000" cy="288000"/>
          </a:xfrm>
          <a:prstGeom prst="round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5770" y="1440000"/>
            <a:ext cx="210659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2026</a:t>
            </a:r>
            <a:endParaRPr sz="11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47770" y="2520000"/>
            <a:ext cx="196259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碳资产运营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47770" y="3132000"/>
            <a:ext cx="196259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CCER 项目开发
碳市场交易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091655" y="2088000"/>
            <a:ext cx="288000" cy="288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2360" y="1440000"/>
            <a:ext cx="210659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2030</a:t>
            </a:r>
            <a:endParaRPr sz="11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54360" y="2520000"/>
            <a:ext cx="196259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碳中和目标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54360" y="3132000"/>
            <a:ext cx="196259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集团净零排放
对标 SBTi 1.5°C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6000" y="1008000"/>
            <a:ext cx="10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EC99E"/>
                </a:solidFill>
                <a:latin typeface="Inter"/>
                <a:ea typeface="PingFang SC"/>
              </a:rPr>
              <a:t>“</a:t>
            </a:r>
            <a:endParaRPr sz="56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8000" y="1944000"/>
            <a:ext cx="10532952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0">
                <a:solidFill>
                  <a:srgbClr val="FFFFFF"/>
                </a:solidFill>
                <a:latin typeface="Inter"/>
                <a:ea typeface="PingFang SC"/>
              </a:rPr>
              <a:t>ArkSus 平台让我们第一次真正实现了碳数据的实时可见，
盘查时间从三个月压缩到三天，核查报告自动生成，
为集团碳中和目标落地提供了坚实的数字底座。</a:t>
            </a:r>
            <a:endParaRPr sz="2200" b="0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6000" y="4032000"/>
            <a:ext cx="1152000" cy="5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4212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99E"/>
                </a:solidFill>
                <a:latin typeface="Inter"/>
                <a:ea typeface="PingFang SC"/>
              </a:rPr>
              <a:t>能源总监  ·  某汽车零部件集团</a:t>
            </a:r>
            <a:endParaRPr sz="16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6000" y="4716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Global Energy Director, Automotive Tier-1 Supplier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52952" y="4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客户案例 / Client Testimonial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1317" y="6462000"/>
            <a:ext cx="997635" cy="25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Scope 1/2/3 排放汇总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GHG Inventory Summary — 2024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6000" y="1476000"/>
          <a:ext cx="10676952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390"/>
                <a:gridCol w="2135390"/>
                <a:gridCol w="2135390"/>
                <a:gridCol w="2135390"/>
                <a:gridCol w="2135392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PingFang SC"/>
                        </a:rPr>
                        <a:t>排放范围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3EC9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PingFang SC"/>
                        </a:rPr>
                        <a:t>类别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3EC9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PingFang SC"/>
                        </a:rPr>
                        <a:t>排放量 (tCO₂e)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3EC9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PingFang SC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3EC9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PingFang SC"/>
                        </a:rPr>
                        <a:t>同比变化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3EC99E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1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直接排放（燃烧）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12,450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28.3%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▼ 3.2%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1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直接排放（工艺）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3,200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7.3%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▼ 1.1%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2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外购电力（市网）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18,900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43.0%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▼ 8.5%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2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外购热力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2,100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4.8%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▼ 2.0%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3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上游原材料运输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4,360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9.9%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▲ 0.6%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E1216"/>
                          </a:solidFill>
                          <a:latin typeface="Inter"/>
                          <a:ea typeface="PingFang SC"/>
                        </a:rPr>
                        <a:t>Scope 3</a:t>
                      </a:r>
                      <a:endParaRPr sz="1100">
                        <a:solidFill>
                          <a:srgbClr val="0E1216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员工通勤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2,980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6.8%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444A"/>
                          </a:solidFill>
                          <a:latin typeface="Inter"/>
                          <a:ea typeface="PingFang SC"/>
                        </a:rPr>
                        <a:t>— 0.0%</a:t>
                      </a:r>
                      <a:endParaRPr sz="1100">
                        <a:solidFill>
                          <a:srgbClr val="3D444A"/>
                        </a:solidFill>
                        <a:latin typeface="Inter"/>
                        <a:ea typeface="PingFang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6000" y="4608000"/>
            <a:ext cx="10676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注：数据来源：ArkSus 平台 2024 年度碳盘查报告；Scope 3 仅含重大类别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驾驶舱看板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Real-Time Carbon &amp; Energy Dashboard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512000"/>
            <a:ext cx="6192632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集团→工厂→设备三级穿透
• 实时能耗与碳排放趋势图
• KPI 红绿灯预警（超标自动推送）
• 月度/季度/年度多维对比
• 支持大屏展示（1920×1080）
右侧图片区域放置产品截图</a:t>
            </a:r>
            <a:endParaRPr sz="14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64632" y="1512000"/>
            <a:ext cx="4268320" cy="4806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tacked-re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000" y="1152000"/>
            <a:ext cx="867497" cy="86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6000" y="2736000"/>
            <a:ext cx="10676952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共建绿色制造未来</a:t>
            </a:r>
            <a:endParaRPr sz="5000" b="1">
              <a:gradFill rotWithShape="1">
                <a:gsLst>
                  <a:gs pos="0">
                    <a:srgbClr val="3EC99E">
                      <a:alpha val="100000"/>
                    </a:srgbClr>
                  </a:gs>
                  <a:gs pos="48000">
                    <a:srgbClr val="5CC13C">
                      <a:alpha val="100000"/>
                    </a:srgbClr>
                  </a:gs>
                  <a:gs pos="100000">
                    <a:srgbClr val="C8E13C">
                      <a:alpha val="100000"/>
                    </a:srgbClr>
                  </a:gs>
                </a:gsLst>
                <a:lin ang="0"/>
              </a:gra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4392000"/>
            <a:ext cx="10676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199"/>
                </a:solidFill>
                <a:latin typeface="Inter"/>
                <a:ea typeface="PingFang SC"/>
              </a:rPr>
              <a:t>contact@futureark.ai  ·  www.futureark.ai  ·  +86 021-xxxx-xxxx</a:t>
            </a:r>
            <a:endParaRPr sz="14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techX">
  <a:themeElements>
    <a:clrScheme name="ArktechX Colors">
      <a:dk1>
        <a:srgbClr val="0E1216"/>
      </a:dk1>
      <a:lt1>
        <a:srgbClr val="FFFFFF"/>
      </a:lt1>
      <a:dk2>
        <a:srgbClr val="3D444A"/>
      </a:dk2>
      <a:lt2>
        <a:srgbClr val="F2F3F5"/>
      </a:lt2>
      <a:accent1>
        <a:srgbClr val="3EC99E"/>
      </a:accent1>
      <a:accent2>
        <a:srgbClr val="C8E13C"/>
      </a:accent2>
      <a:accent3>
        <a:srgbClr val="319E7C"/>
      </a:accent3>
      <a:accent4>
        <a:srgbClr val="8A9199"/>
      </a:accent4>
      <a:accent5>
        <a:srgbClr val="D0D5DD"/>
      </a:accent5>
      <a:accent6>
        <a:srgbClr val="EAFAF5"/>
      </a:accent6>
      <a:hlink>
        <a:srgbClr val="3EC99E"/>
      </a:hlink>
      <a:folHlink>
        <a:srgbClr val="319E7C"/>
      </a:folHlink>
    </a:clrScheme>
    <a:fontScheme name="ArktechX Fonts">
      <a:majorFont>
        <a:latin typeface="Inter"/>
        <a:ea typeface="PingFang SC"/>
        <a:cs typeface=""/>
      </a:majorFont>
      <a:minorFont>
        <a:latin typeface="Inter"/>
        <a:ea typeface="PingFang SC"/>
        <a:cs typeface=""/>
      </a:minorFont>
    </a:fontScheme>
    <a:fmtScheme name="Arktech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0000" dist="12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Docs</Application>
  <PresentationFormat>On-screen Show (4:3)</PresentationFormat>
  <Paragraphs>298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0" baseType="lpstr">
      <vt:lpstr>Arial</vt:lpstr>
      <vt:lpstr>SimSun</vt:lpstr>
      <vt:lpstr>Wingdings</vt:lpstr>
      <vt:lpstr>Arial</vt:lpstr>
      <vt:lpstr>Inter</vt:lpstr>
      <vt:lpstr>宋体-简</vt:lpstr>
      <vt:lpstr>PingFang SC</vt:lpstr>
      <vt:lpstr>Thonburi</vt:lpstr>
      <vt:lpstr>SimSun</vt:lpstr>
      <vt:lpstr>汉仪书宋二KW</vt:lpstr>
      <vt:lpstr>Microsoft YaHei</vt:lpstr>
      <vt:lpstr>汉仪旗黑</vt:lpstr>
      <vt:lpstr>Arial Unicode MS</vt:lpstr>
      <vt:lpstr>Calibri</vt:lpstr>
      <vt:lpstr>Helvetica Neue</vt:lpstr>
      <vt:lpstr>Inter</vt:lpstr>
      <vt:lpstr>苹方-简</vt:lpstr>
      <vt:lpstr>Times New Roman Regular</vt:lpstr>
      <vt:lpstr>Waseem Regular</vt:lpstr>
      <vt:lpstr>Wingdings</vt:lpstr>
      <vt:lpstr>Alibaba PuHuiTi 2.0 35 Thin</vt:lpstr>
      <vt:lpstr>Alibaba PuHuiTi 2.0 85 Bold</vt:lpstr>
      <vt:lpstr>Alibaba PuHuiTi 2.0 45 Light</vt:lpstr>
      <vt:lpstr>Alibaba PuHuiTi 2.0 55 Regular</vt:lpstr>
      <vt:lpstr>Alibaba PuHuiTi 2.0 65 Medium</vt:lpstr>
      <vt:lpstr>Alibaba PuHuiTi 2.0 75 SemiBold</vt:lpstr>
      <vt:lpstr>ArktechX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hid32130272</cp:lastModifiedBy>
  <cp:revision>3</cp:revision>
  <dcterms:created xsi:type="dcterms:W3CDTF">2026-05-29T09:01:02Z</dcterms:created>
  <dcterms:modified xsi:type="dcterms:W3CDTF">2026-05-29T09:01:02Z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E37120D38382C63CBC54196A1B9EFEB1_42</vt:lpwstr>
  </property>
  <property fmtid="{D5CDD505-2E9C-101B-9397-08002B2CF9AE}" pid="3" name="KSOProductBuildVer">
    <vt:lpwstr>1033-12.1.25897.25897</vt:lpwstr>
  </property>
</Properties>
</file>